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ounded Rectangle 9"/>
          <p:cNvSpPr/>
          <p:nvPr/>
        </p:nvSpPr>
        <p:spPr>
          <a:xfrm>
            <a:off x="7498079" y="475488"/>
            <a:ext cx="2743200" cy="59618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40080" y="502920"/>
            <a:ext cx="1645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Microsoft YaHei"/>
              </a:rPr>
              <a:t>课程项目汇报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6035040" cy="6583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Microsoft YaHei"/>
              </a:rPr>
              <a:t>SmartRead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755648"/>
            <a:ext cx="630936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icrosoft YaHei"/>
              </a:rPr>
              <a:t>面向学习文本的移动端智能阅读助手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68880"/>
            <a:ext cx="603504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A03 组｜林立洲 121072021030｜江轩宇 121052023075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603504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Android / Kotlin / Jetpack Compose / LiteRT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0"/>
            <a:ext cx="603504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福建师范大学 2023 级软件工程 2 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315968"/>
            <a:ext cx="5394960" cy="10058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700"/>
              </a:spcAft>
              <a:defRPr sz="1300">
                <a:solidFill>
                  <a:srgbClr val="1E40AF"/>
                </a:solidFill>
                <a:latin typeface="Microsoft YaHei"/>
              </a:defRPr>
            </a:pPr>
            <a:r>
              <a:t>项目目标：在 Android 端完成文本阅读分析、端侧句子重要性评分、问答复习和历史回看。</a:t>
            </a:r>
          </a:p>
          <a:p>
            <a:pPr>
              <a:spcAft>
                <a:spcPts val="700"/>
              </a:spcAft>
              <a:defRPr sz="1300">
                <a:solidFill>
                  <a:srgbClr val="1E40AF"/>
                </a:solidFill>
                <a:latin typeface="Microsoft YaHei"/>
              </a:defRPr>
            </a:pPr>
            <a:r>
              <a:t>汇报重点：应用价值、功能完整度、LiteRT 集成、工程实现和团队协作。</a:t>
            </a:r>
          </a:p>
        </p:txBody>
      </p:sp>
      <p:pic>
        <p:nvPicPr>
          <p:cNvPr id="9" name="Picture 8" descr="V1.0首页_20260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43" y="530352"/>
            <a:ext cx="2633472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ounded Rectangle 19"/>
          <p:cNvSpPr/>
          <p:nvPr/>
        </p:nvSpPr>
        <p:spPr>
          <a:xfrm>
            <a:off x="7953245" y="1728216"/>
            <a:ext cx="3067310" cy="48188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2920" y="329184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83464"/>
            <a:ext cx="21945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7132320" cy="49377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选题背景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70432"/>
            <a:ext cx="786384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学生阅读资料时，最耗时间的不是打开文章，而是整理重点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83112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54864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SmartRead Agent｜软件项目研发实践（3）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473952"/>
            <a:ext cx="1920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A03 组 林立洲 / 江轩宇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6080760" cy="84124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20824"/>
            <a:ext cx="13258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  <a:latin typeface="Microsoft YaHei"/>
              </a:rPr>
              <a:t>阅读材料长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020824"/>
            <a:ext cx="3977639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Microsoft YaHei"/>
              </a:rPr>
              <a:t>教材片段、课堂资料和技术文章信息密度高，第一次阅读很难快速抓住主线。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843784"/>
            <a:ext cx="6080760" cy="84124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80944"/>
            <a:ext cx="13258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  <a:latin typeface="Microsoft YaHei"/>
              </a:rPr>
              <a:t>整理过程散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980944"/>
            <a:ext cx="3977639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Microsoft YaHei"/>
              </a:rPr>
              <a:t>摘要、关键词、复习点通常分散在笔记里，回看时需要重新梳理。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803904"/>
            <a:ext cx="6080760" cy="84124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41064"/>
            <a:ext cx="13258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  <a:latin typeface="Microsoft YaHei"/>
              </a:rPr>
              <a:t>移动端高频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941064"/>
            <a:ext cx="3977639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Microsoft YaHei"/>
              </a:rPr>
              <a:t>手机是学生最容易随手使用的设备，适合承载轻量阅读辅助流程。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919472"/>
            <a:ext cx="6080760" cy="841248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700"/>
              </a:spcAft>
              <a:defRPr sz="1400">
                <a:solidFill>
                  <a:srgbClr val="047857"/>
                </a:solidFill>
                <a:latin typeface="Microsoft YaHei"/>
              </a:defRPr>
            </a:pPr>
            <a:r>
              <a:t>设计取向：不做泛泛的聊天工具，而是聚焦“课程资料阅读”这一高频小场景。</a:t>
            </a:r>
          </a:p>
          <a:p>
            <a:pPr>
              <a:spcAft>
                <a:spcPts val="700"/>
              </a:spcAft>
              <a:defRPr sz="1400">
                <a:solidFill>
                  <a:srgbClr val="047857"/>
                </a:solidFill>
                <a:latin typeface="Microsoft YaHei"/>
              </a:defRPr>
            </a:pPr>
            <a:r>
              <a:t>V1.0 的价值在于把阅读、理解和复习整理放进一个移动端闭环。</a:t>
            </a:r>
          </a:p>
        </p:txBody>
      </p:sp>
      <p:pic>
        <p:nvPicPr>
          <p:cNvPr id="19" name="Picture 18" descr="text_input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109" y="1783080"/>
            <a:ext cx="295758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Rounded Rectangle 25"/>
          <p:cNvSpPr/>
          <p:nvPr/>
        </p:nvSpPr>
        <p:spPr>
          <a:xfrm>
            <a:off x="8037576" y="1985446"/>
            <a:ext cx="2990088" cy="430442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2920" y="329184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83464"/>
            <a:ext cx="21945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icrosoft YaHei"/>
              </a:rPr>
              <a:t>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7132320" cy="49377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项目定位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70432"/>
            <a:ext cx="786384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把“读文章、抓重点、问问题、做复习”串成一个闭环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83112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54864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SmartRead Agent｜软件项目研发实践（3）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473952"/>
            <a:ext cx="1920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A03 组 林立洲 / 江轩宇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20240"/>
            <a:ext cx="2697480" cy="1353312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5029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103120"/>
            <a:ext cx="160020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</a:rPr>
              <a:t>输入文本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670048"/>
            <a:ext cx="214884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YaHei"/>
              </a:rPr>
              <a:t>手动粘贴或选择示例文本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920240"/>
            <a:ext cx="2697480" cy="1353312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4487" y="2121408"/>
            <a:ext cx="5029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103120"/>
            <a:ext cx="160020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</a:rPr>
              <a:t>智能分析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670048"/>
            <a:ext cx="214884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YaHei"/>
              </a:rPr>
              <a:t>摘要、关键词、分点摘要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767328"/>
            <a:ext cx="2697480" cy="1353312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68496"/>
            <a:ext cx="5029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3950208"/>
            <a:ext cx="160020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</a:rPr>
              <a:t>端侧评分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517136"/>
            <a:ext cx="214884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YaHei"/>
              </a:rPr>
              <a:t>LiteRT 输出句子重要性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767328"/>
            <a:ext cx="2697480" cy="1353312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04487" y="3968496"/>
            <a:ext cx="50292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3950208"/>
            <a:ext cx="1600200" cy="29260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</a:rPr>
              <a:t>复习回看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517136"/>
            <a:ext cx="214884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YaHei"/>
              </a:rPr>
              <a:t>Agent、卡片、复习题、历史记录</a:t>
            </a:r>
          </a:p>
        </p:txBody>
      </p:sp>
      <p:pic>
        <p:nvPicPr>
          <p:cNvPr id="25" name="Picture 24" descr="summary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40310"/>
            <a:ext cx="2880360" cy="41946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Rounded Rectangle 27"/>
          <p:cNvSpPr/>
          <p:nvPr/>
        </p:nvSpPr>
        <p:spPr>
          <a:xfrm>
            <a:off x="8037576" y="1901553"/>
            <a:ext cx="2990088" cy="447221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2920" y="329184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83464"/>
            <a:ext cx="21945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icrosoft YaHei"/>
              </a:rPr>
              <a:t>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7132320" cy="49377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V1.0 功能总览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70432"/>
            <a:ext cx="786384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功能不是孤立堆叠，而是围绕阅读学习流程组织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83112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54864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SmartRead Agent｜软件项目研发实践（3）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473952"/>
            <a:ext cx="1920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A03 组 林立洲 / 江轩宇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2487168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39112"/>
            <a:ext cx="192024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700" b="1">
                <a:solidFill>
                  <a:srgbClr val="047857"/>
                </a:solidFill>
                <a:latin typeface="Microsoft YaHei"/>
              </a:rPr>
              <a:t>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196596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20" b="0">
                <a:solidFill>
                  <a:srgbClr val="1E293B"/>
                </a:solidFill>
                <a:latin typeface="Microsoft YaHei"/>
              </a:rPr>
              <a:t>文本输入、示例文本、字符统计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874519"/>
            <a:ext cx="2487168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039112"/>
            <a:ext cx="192024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700" b="1">
                <a:solidFill>
                  <a:srgbClr val="047857"/>
                </a:solidFill>
                <a:latin typeface="Microsoft YaHei"/>
              </a:rPr>
              <a:t>理解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404872"/>
            <a:ext cx="196596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20" b="0">
                <a:solidFill>
                  <a:srgbClr val="1E293B"/>
                </a:solidFill>
                <a:latin typeface="Microsoft YaHei"/>
              </a:rPr>
              <a:t>一句话总结、关键词、分点摘要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456432"/>
            <a:ext cx="2487168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21024"/>
            <a:ext cx="192024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700" b="1">
                <a:solidFill>
                  <a:srgbClr val="047857"/>
                </a:solidFill>
                <a:latin typeface="Microsoft YaHei"/>
              </a:rPr>
              <a:t>端侧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86783"/>
            <a:ext cx="196596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20" b="0">
                <a:solidFill>
                  <a:srgbClr val="1E293B"/>
                </a:solidFill>
                <a:latin typeface="Microsoft YaHei"/>
              </a:rPr>
              <a:t>LiteRT 句子重要性分析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3456432"/>
            <a:ext cx="2487168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7" y="3621024"/>
            <a:ext cx="192024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700" b="1">
                <a:solidFill>
                  <a:srgbClr val="047857"/>
                </a:solidFill>
                <a:latin typeface="Microsoft YaHei"/>
              </a:rPr>
              <a:t>问答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7" y="3986783"/>
            <a:ext cx="196596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20" b="0">
                <a:solidFill>
                  <a:srgbClr val="1E293B"/>
                </a:solidFill>
                <a:latin typeface="Microsoft YaHei"/>
              </a:rPr>
              <a:t>本地规则型阅读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038344"/>
            <a:ext cx="2487168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02936"/>
            <a:ext cx="192024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700" b="1">
                <a:solidFill>
                  <a:srgbClr val="047857"/>
                </a:solidFill>
                <a:latin typeface="Microsoft YaHei"/>
              </a:rPr>
              <a:t>复习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68696"/>
            <a:ext cx="196596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20" b="0">
                <a:solidFill>
                  <a:srgbClr val="1E293B"/>
                </a:solidFill>
                <a:latin typeface="Microsoft YaHei"/>
              </a:rPr>
              <a:t>知识卡片、复习题、参考答案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5038344"/>
            <a:ext cx="2487168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75887" y="5202936"/>
            <a:ext cx="192024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700" b="1">
                <a:solidFill>
                  <a:srgbClr val="047857"/>
                </a:solidFill>
                <a:latin typeface="Microsoft YaHei"/>
              </a:rPr>
              <a:t>回看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7" y="5568696"/>
            <a:ext cx="196596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20" b="0">
                <a:solidFill>
                  <a:srgbClr val="1E293B"/>
                </a:solidFill>
                <a:latin typeface="Microsoft YaHei"/>
              </a:rPr>
              <a:t>历史记录保存、恢复、清空</a:t>
            </a:r>
          </a:p>
        </p:txBody>
      </p:sp>
      <p:pic>
        <p:nvPicPr>
          <p:cNvPr id="27" name="Picture 26" descr="entry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56417"/>
            <a:ext cx="2880360" cy="43624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83464"/>
            <a:ext cx="21945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icrosoft YaHei"/>
              </a:rPr>
              <a:t>界面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7132320" cy="49377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核心界面展示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70432"/>
            <a:ext cx="786384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从首页到学习材料，主要页面已经形成完整操作路径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83112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54864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SmartRead Agent｜软件项目研发实践（3）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473952"/>
            <a:ext cx="1920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A03 组 林立洲 / 江轩宇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1828800"/>
            <a:ext cx="370332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me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416" y="1993392"/>
            <a:ext cx="2305526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48839" y="6236208"/>
            <a:ext cx="31546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300" b="1">
                <a:solidFill>
                  <a:srgbClr val="1E40AF"/>
                </a:solidFill>
                <a:latin typeface="Microsoft YaHei"/>
              </a:rPr>
              <a:t>首页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828800"/>
            <a:ext cx="370332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ummary_foc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083" y="1993392"/>
            <a:ext cx="2951073" cy="4297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12280" y="6236208"/>
            <a:ext cx="31546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300" b="1">
                <a:solidFill>
                  <a:srgbClr val="1E40AF"/>
                </a:solidFill>
                <a:latin typeface="Microsoft YaHei"/>
              </a:rPr>
              <a:t>摘要结果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Rounded Rectangle 25"/>
          <p:cNvSpPr/>
          <p:nvPr/>
        </p:nvSpPr>
        <p:spPr>
          <a:xfrm>
            <a:off x="5934456" y="2154022"/>
            <a:ext cx="5504688" cy="34186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2920" y="329184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83464"/>
            <a:ext cx="21945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icrosoft YaHei"/>
              </a:rPr>
              <a:t>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7132320" cy="49377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70432"/>
            <a:ext cx="786384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Android 本地分析为主，模型文件随 APK 集成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83112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54864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SmartRead Agent｜软件项目研发实践（3）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473952"/>
            <a:ext cx="1920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A03 组 林立洲 / 江轩宇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48006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11679"/>
            <a:ext cx="1097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icrosoft YaHei"/>
              </a:rPr>
              <a:t>UI 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2" y="2011679"/>
            <a:ext cx="1600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Jetpack 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79"/>
            <a:ext cx="16002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首页、结果页、Agent、知识卡片、历史记录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770631"/>
            <a:ext cx="48006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907791"/>
            <a:ext cx="1097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icrosoft YaHei"/>
              </a:rPr>
              <a:t>分析层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2907791"/>
            <a:ext cx="1600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TextAnalyzer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07791"/>
            <a:ext cx="16002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摘要、关键词、分点摘要、句子切分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666743"/>
            <a:ext cx="48006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803903"/>
            <a:ext cx="1097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icrosoft YaHei"/>
              </a:rPr>
              <a:t>智能层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3803903"/>
            <a:ext cx="1600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LocalReadingAgent + LiteRT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803903"/>
            <a:ext cx="16002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问答意图识别、端侧句子重要性评分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562855"/>
            <a:ext cx="48006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700015"/>
            <a:ext cx="1097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icrosoft YaHei"/>
              </a:rPr>
              <a:t>存储层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2" y="4700015"/>
            <a:ext cx="1600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HistoryRepository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700015"/>
            <a:ext cx="16002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SharedPreferences 保存最近 12 条分析记录</a:t>
            </a:r>
          </a:p>
        </p:txBody>
      </p:sp>
      <p:pic>
        <p:nvPicPr>
          <p:cNvPr id="25" name="Picture 24" descr="SmartReadAgent_模块关系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208886"/>
            <a:ext cx="5394960" cy="33089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Rounded Rectangle 22"/>
          <p:cNvSpPr/>
          <p:nvPr/>
        </p:nvSpPr>
        <p:spPr>
          <a:xfrm>
            <a:off x="7946136" y="1962143"/>
            <a:ext cx="3081528" cy="435103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2920" y="329184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83464"/>
            <a:ext cx="21945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icrosoft YaHei"/>
              </a:rPr>
              <a:t>端侧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7132320" cy="49377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LiteRT 端侧句子重要性分析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70432"/>
            <a:ext cx="786384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移动机器学习部分落实到模型文件、端侧推理和界面展示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83112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54864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SmartRead Agent｜软件项目研发实践（3）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473952"/>
            <a:ext cx="1920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A03 组 林立洲 / 江轩宇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5989320" cy="713232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02535"/>
            <a:ext cx="123444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icrosoft YaHei"/>
              </a:rPr>
              <a:t>文本句子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2002535"/>
            <a:ext cx="3977639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Microsoft YaHei"/>
              </a:rPr>
              <a:t>切分文章前若干句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24911"/>
            <a:ext cx="5989320" cy="713232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7"/>
            <a:ext cx="123444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icrosoft YaHei"/>
              </a:rPr>
              <a:t>5 维特征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7712" y="2852927"/>
            <a:ext cx="3977639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Microsoft YaHei"/>
              </a:rPr>
              <a:t>长度、关键词、位置、标点、提示词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75303"/>
            <a:ext cx="5989320" cy="713232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703319"/>
            <a:ext cx="123444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icrosoft YaHei"/>
              </a:rPr>
              <a:t>.tflite 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7712" y="3703319"/>
            <a:ext cx="3977639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Microsoft YaHei"/>
              </a:rPr>
              <a:t>assets 集成并本地推理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25695"/>
            <a:ext cx="5989320" cy="713232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53711"/>
            <a:ext cx="123444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icrosoft YaHei"/>
              </a:rPr>
              <a:t>重要性等级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4553711"/>
            <a:ext cx="3977639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Microsoft YaHei"/>
              </a:rPr>
              <a:t>分数转为高/中/低展示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76672"/>
            <a:ext cx="566928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Microsoft YaHei"/>
              </a:rPr>
              <a:t>Text → Feature Vector → LiteRT Interpreter → Score / Level</a:t>
            </a:r>
          </a:p>
        </p:txBody>
      </p:sp>
      <p:pic>
        <p:nvPicPr>
          <p:cNvPr id="22" name="Picture 21" descr="litert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017007"/>
            <a:ext cx="2971800" cy="42413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ounded Rectangle 20"/>
          <p:cNvSpPr/>
          <p:nvPr/>
        </p:nvSpPr>
        <p:spPr>
          <a:xfrm>
            <a:off x="7946136" y="1839520"/>
            <a:ext cx="3081528" cy="459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2920" y="329184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Microsoft YaHe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83464"/>
            <a:ext cx="21945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icrosoft YaHei"/>
              </a:rPr>
              <a:t>问答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7132320" cy="49377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Agent 问答设计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70432"/>
            <a:ext cx="786384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围绕当前文章分析结果回答，强调稳定、可解释、可复现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83112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54864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SmartRead Agent｜软件项目研发实践（3）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473952"/>
            <a:ext cx="1920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A03 组 林立洲 / 江轩宇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01952"/>
            <a:ext cx="598932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57400"/>
            <a:ext cx="123444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1">
                <a:solidFill>
                  <a:srgbClr val="047857"/>
                </a:solidFill>
                <a:latin typeface="Microsoft YaHei"/>
              </a:rPr>
              <a:t>输入来源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2057400"/>
            <a:ext cx="388620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Microsoft YaHei"/>
              </a:rPr>
              <a:t>当前文章摘要、关键词、分点摘要、复习题和知识卡片。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999232"/>
            <a:ext cx="598932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154680"/>
            <a:ext cx="123444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1">
                <a:solidFill>
                  <a:srgbClr val="047857"/>
                </a:solidFill>
                <a:latin typeface="Microsoft YaHei"/>
              </a:rPr>
              <a:t>意图识别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7712" y="3154680"/>
            <a:ext cx="388620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Microsoft YaHei"/>
              </a:rPr>
              <a:t>区分概括、关键词、复习重点、复习题、卡片提示等问题类型。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096512"/>
            <a:ext cx="598932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251960"/>
            <a:ext cx="123444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1">
                <a:solidFill>
                  <a:srgbClr val="047857"/>
                </a:solidFill>
                <a:latin typeface="Microsoft YaHei"/>
              </a:rPr>
              <a:t>回答方式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7712" y="4251960"/>
            <a:ext cx="388620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Microsoft YaHei"/>
              </a:rPr>
              <a:t>使用本地规则组织答案，不依赖外部大模型接口。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5321808"/>
            <a:ext cx="5989320" cy="566928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468112"/>
            <a:ext cx="544068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047857"/>
                </a:solidFill>
                <a:latin typeface="Microsoft YaHei"/>
              </a:rPr>
              <a:t>课堂汇报口径：这是围绕文章内容的本地阅读 Agent，不做泛聊天。</a:t>
            </a:r>
          </a:p>
        </p:txBody>
      </p:sp>
      <p:pic>
        <p:nvPicPr>
          <p:cNvPr id="20" name="Picture 19" descr="agent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94384"/>
            <a:ext cx="2971800" cy="44865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83464"/>
            <a:ext cx="21945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icrosoft YaHei"/>
              </a:rPr>
              <a:t>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7132320" cy="49377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学习材料生成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70432"/>
            <a:ext cx="786384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把阅读结果转化为可复习的卡片和题目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83112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54864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SmartRead Agent｜软件项目研发实践（3）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473952"/>
            <a:ext cx="1920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A03 组 林立洲 / 江轩宇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1828800"/>
            <a:ext cx="370332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nowledge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057" y="1993392"/>
            <a:ext cx="2912243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48839" y="6236208"/>
            <a:ext cx="31546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300" b="1">
                <a:solidFill>
                  <a:srgbClr val="1E40AF"/>
                </a:solidFill>
                <a:latin typeface="Microsoft YaHei"/>
              </a:rPr>
              <a:t>知识卡片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828800"/>
            <a:ext cx="370332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quiz_foc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498" y="1993392"/>
            <a:ext cx="2912243" cy="4297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12280" y="6236208"/>
            <a:ext cx="31546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300" b="1">
                <a:solidFill>
                  <a:srgbClr val="1E40AF"/>
                </a:solidFill>
                <a:latin typeface="Microsoft YaHei"/>
              </a:rPr>
              <a:t>复习题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Rounded Rectangle 25"/>
          <p:cNvSpPr/>
          <p:nvPr/>
        </p:nvSpPr>
        <p:spPr>
          <a:xfrm>
            <a:off x="5934456" y="2154022"/>
            <a:ext cx="5504688" cy="34186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2920" y="329184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Microsoft YaHe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83464"/>
            <a:ext cx="21945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icrosoft YaHei"/>
              </a:rPr>
              <a:t>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7132320" cy="49377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数据对象与本地存储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70432"/>
            <a:ext cx="786384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分析结果、问答消息、学习材料和历史记录都有明确结构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83112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54864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SmartRead Agent｜软件项目研发实践（3）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473952"/>
            <a:ext cx="1920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A03 组 林立洲 / 江轩宇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48006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11679"/>
            <a:ext cx="1097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icrosoft YaHei"/>
              </a:rPr>
              <a:t>ArticleAnalysis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2" y="2011679"/>
            <a:ext cx="1600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主分析结果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79"/>
            <a:ext cx="16002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原文、摘要、关键词、分点摘要、句子重要性列表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770631"/>
            <a:ext cx="48006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907791"/>
            <a:ext cx="1097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icrosoft YaHei"/>
              </a:rPr>
              <a:t>ChatMessage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2907791"/>
            <a:ext cx="1600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问答消息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07791"/>
            <a:ext cx="16002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角色、内容、时间戳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666743"/>
            <a:ext cx="48006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803903"/>
            <a:ext cx="1097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icrosoft YaHei"/>
              </a:rPr>
              <a:t>KnowledgeCard / QuizQuestion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3803903"/>
            <a:ext cx="1600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复习材料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803903"/>
            <a:ext cx="16002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卡片标题、内容、题目、参考答案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562855"/>
            <a:ext cx="48006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700015"/>
            <a:ext cx="1097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icrosoft YaHei"/>
              </a:rPr>
              <a:t>HistoryRecord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2" y="4700015"/>
            <a:ext cx="1600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历史记录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700015"/>
            <a:ext cx="16002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</a:rPr>
              <a:t>标题、预览、保存时间、原文和摘要信息</a:t>
            </a:r>
          </a:p>
        </p:txBody>
      </p:sp>
      <p:pic>
        <p:nvPicPr>
          <p:cNvPr id="25" name="Picture 24" descr="SmartReadAgent_对象模型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208886"/>
            <a:ext cx="5394960" cy="33089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Rounded Rectangle 21"/>
          <p:cNvSpPr/>
          <p:nvPr/>
        </p:nvSpPr>
        <p:spPr>
          <a:xfrm>
            <a:off x="7351776" y="1942300"/>
            <a:ext cx="2624328" cy="394266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2920" y="329184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Microsoft Ya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83464"/>
            <a:ext cx="21945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icrosoft YaHei"/>
              </a:rPr>
              <a:t>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7132320" cy="49377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工程实现与版本收口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70432"/>
            <a:ext cx="786384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从代码、模型、APK 到文档材料形成可复查交付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83112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54864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SmartRead Agent｜软件项目研发实践（3）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473952"/>
            <a:ext cx="1920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A03 组 林立洲 / 江轩宇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512064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29967"/>
            <a:ext cx="13258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icrosoft YaHei"/>
              </a:rPr>
              <a:t>Android 工程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029967"/>
            <a:ext cx="29260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Kotlin + Compose，入口为 MainActivity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61487"/>
            <a:ext cx="512064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916935"/>
            <a:ext cx="13258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icrosoft YaHei"/>
              </a:rPr>
              <a:t>模型文件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916935"/>
            <a:ext cx="29260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sentence_importance_model.tflite 集成到 assets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648455"/>
            <a:ext cx="512064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803903"/>
            <a:ext cx="13258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icrosoft YaHei"/>
              </a:rPr>
              <a:t>APK 产物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803903"/>
            <a:ext cx="29260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SmartReadAgent-v1.0-debug.apk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535423"/>
            <a:ext cx="512064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690871"/>
            <a:ext cx="13258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Microsoft YaHei"/>
              </a:rPr>
              <a:t>文档材料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4690871"/>
            <a:ext cx="29260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README、项目说明、详细设计说明书、演示脚本</a:t>
            </a:r>
          </a:p>
        </p:txBody>
      </p:sp>
      <p:pic>
        <p:nvPicPr>
          <p:cNvPr id="21" name="Picture 20" descr="history_list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97164"/>
            <a:ext cx="2514600" cy="38329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Microsoft YaHe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83464"/>
            <a:ext cx="21945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icrosoft YaHei"/>
              </a:rPr>
              <a:t>迭代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7132320" cy="49377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迭代过程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70432"/>
            <a:ext cx="786384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从 MVP 到 V1.0，每个阶段都保留可运行成果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83112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54864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SmartRead Agent｜软件项目研发实践（3）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473952"/>
            <a:ext cx="1920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A03 组 林立洲 / 江轩宇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0120" y="3063240"/>
            <a:ext cx="10104120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2743200"/>
            <a:ext cx="16002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889504"/>
            <a:ext cx="13258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500" b="1">
                <a:solidFill>
                  <a:srgbClr val="1E40AF"/>
                </a:solidFill>
                <a:latin typeface="Microsoft YaHei"/>
              </a:rPr>
              <a:t>v0.1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73552"/>
            <a:ext cx="132588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080" b="0">
                <a:solidFill>
                  <a:srgbClr val="1E293B"/>
                </a:solidFill>
                <a:latin typeface="Microsoft YaHei"/>
              </a:rPr>
              <a:t>立项与仓库初始化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8608" y="2743200"/>
            <a:ext cx="16002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8336" y="2889504"/>
            <a:ext cx="13258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500" b="1">
                <a:solidFill>
                  <a:srgbClr val="1E40AF"/>
                </a:solidFill>
                <a:latin typeface="Microsoft YaHei"/>
              </a:rPr>
              <a:t>v0.2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336" y="3273552"/>
            <a:ext cx="132588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080" b="0">
                <a:solidFill>
                  <a:srgbClr val="1E293B"/>
                </a:solidFill>
                <a:latin typeface="Microsoft YaHei"/>
              </a:rPr>
              <a:t>文本输入与摘要 MVP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743200"/>
            <a:ext cx="16002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889504"/>
            <a:ext cx="13258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500" b="1">
                <a:solidFill>
                  <a:srgbClr val="1E40AF"/>
                </a:solidFill>
                <a:latin typeface="Microsoft YaHei"/>
              </a:rPr>
              <a:t>v0.3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3273552"/>
            <a:ext cx="132588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080" b="0">
                <a:solidFill>
                  <a:srgbClr val="1E293B"/>
                </a:solidFill>
                <a:latin typeface="Microsoft YaHei"/>
              </a:rPr>
              <a:t>Agent、知识卡片、复习题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2743200"/>
            <a:ext cx="16002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889504"/>
            <a:ext cx="13258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500" b="1">
                <a:solidFill>
                  <a:srgbClr val="1E40AF"/>
                </a:solidFill>
                <a:latin typeface="Microsoft YaHei"/>
              </a:rPr>
              <a:t>v0.4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273552"/>
            <a:ext cx="132588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080" b="0">
                <a:solidFill>
                  <a:srgbClr val="1E293B"/>
                </a:solidFill>
                <a:latin typeface="Microsoft YaHei"/>
              </a:rPr>
              <a:t>LiteRT 端侧模型集成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2743200"/>
            <a:ext cx="16002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889504"/>
            <a:ext cx="13258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500" b="1">
                <a:solidFill>
                  <a:srgbClr val="1E40AF"/>
                </a:solidFill>
                <a:latin typeface="Microsoft YaHei"/>
              </a:rPr>
              <a:t>v0.5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273552"/>
            <a:ext cx="132588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080" b="0">
                <a:solidFill>
                  <a:srgbClr val="1E293B"/>
                </a:solidFill>
                <a:latin typeface="Microsoft YaHei"/>
              </a:rPr>
              <a:t>历史记录与体验完善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66960" y="2743200"/>
            <a:ext cx="16002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76688" y="2889504"/>
            <a:ext cx="13258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500" b="1">
                <a:solidFill>
                  <a:srgbClr val="1E40AF"/>
                </a:solidFill>
                <a:latin typeface="Microsoft YaHei"/>
              </a:rPr>
              <a:t>v1.0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6688" y="3273552"/>
            <a:ext cx="132588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1080" b="0">
                <a:solidFill>
                  <a:srgbClr val="1E293B"/>
                </a:solidFill>
                <a:latin typeface="Microsoft YaHei"/>
              </a:rPr>
              <a:t>APK、测试、文档与汇报材料收口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709160"/>
            <a:ext cx="9966960" cy="86868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700"/>
              </a:spcAft>
              <a:defRPr sz="1500">
                <a:solidFill>
                  <a:srgbClr val="047857"/>
                </a:solidFill>
                <a:latin typeface="Microsoft YaHei"/>
              </a:defRPr>
            </a:pPr>
            <a:r>
              <a:t>迭代策略：每个阶段先保证可运行，再补充测试截图、版本记录和提交材料。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Microsoft YaHe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83464"/>
            <a:ext cx="21945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icrosoft YaHei"/>
              </a:rPr>
              <a:t>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7132320" cy="49377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小组分工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70432"/>
            <a:ext cx="786384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双人协作完成开发、测试、演示和材料整理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83112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54864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SmartRead Agent｜软件项目研发实践（3）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473952"/>
            <a:ext cx="1920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A03 组 林立洲 / 江轩宇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489204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40280"/>
            <a:ext cx="42976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林立洲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16352"/>
            <a:ext cx="425196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项目方案、Android 核心开发、本地摘要、Agent、LiteRT 集成、版本管理、文档与汇报材料。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965960"/>
            <a:ext cx="489204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240280"/>
            <a:ext cx="42976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江轩宇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816352"/>
            <a:ext cx="425196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需求反馈、安卓真机体验、功能流程验证、UI 使用建议、文档校对和手机端操作配合。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4709160"/>
            <a:ext cx="8183879" cy="84124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700"/>
              </a:spcAft>
              <a:defRPr sz="1500">
                <a:solidFill>
                  <a:srgbClr val="1E40AF"/>
                </a:solidFill>
                <a:latin typeface="Microsoft YaHei"/>
              </a:defRPr>
            </a:pPr>
            <a:r>
              <a:t>协作方式：开发、真机体验、文档校对和演示操作分开推进，最终统一到 V1.0 交付材料。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Rounded Rectangle 18"/>
          <p:cNvSpPr/>
          <p:nvPr/>
        </p:nvSpPr>
        <p:spPr>
          <a:xfrm>
            <a:off x="7488936" y="2018294"/>
            <a:ext cx="2578608" cy="38729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2920" y="329184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Microsoft YaHe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83464"/>
            <a:ext cx="21945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icrosoft YaHei"/>
              </a:rPr>
              <a:t>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7132320" cy="49377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测试与运行结果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70432"/>
            <a:ext cx="786384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以主要流程可安装、可运行、可复现作为 V1.0 验收标准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83112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54864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SmartRead Agent｜软件项目研发实践（3）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473952"/>
            <a:ext cx="1920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A03 组 林立洲 / 江轩宇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3949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399"/>
            <a:ext cx="128016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1">
                <a:solidFill>
                  <a:srgbClr val="047857"/>
                </a:solidFill>
                <a:latin typeface="Microsoft YaHei"/>
              </a:rPr>
              <a:t>功能覆盖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057399"/>
            <a:ext cx="352044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摘要、关键词、分点摘要、LiteRT、Agent、知识卡片、复习题、历史记录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990087"/>
            <a:ext cx="53949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7"/>
            <a:ext cx="128016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1">
                <a:solidFill>
                  <a:srgbClr val="047857"/>
                </a:solidFill>
                <a:latin typeface="Microsoft YaHei"/>
              </a:rPr>
              <a:t>运行验证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2848" y="3172967"/>
            <a:ext cx="352044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模拟器回归验证，安卓真机完成体验反馈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105655"/>
            <a:ext cx="53949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88535"/>
            <a:ext cx="128016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500" b="1">
                <a:solidFill>
                  <a:srgbClr val="047857"/>
                </a:solidFill>
                <a:latin typeface="Microsoft YaHei"/>
              </a:rPr>
              <a:t>交付状态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4288535"/>
            <a:ext cx="352044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源码、模型、APK、截图、设计说明书和汇报材料已归档</a:t>
            </a:r>
          </a:p>
        </p:txBody>
      </p:sp>
      <p:pic>
        <p:nvPicPr>
          <p:cNvPr id="18" name="Picture 17" descr="history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073158"/>
            <a:ext cx="2468880" cy="37632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Microsoft YaHe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83464"/>
            <a:ext cx="21945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icrosoft Ya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7132320" cy="49377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icrosoft YaHei"/>
              </a:rPr>
              <a:t>总结与后续优化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70432"/>
            <a:ext cx="7863840" cy="32918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已完成课程项目闭环，同时保留可继续扩展的方向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27632"/>
            <a:ext cx="11183112" cy="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473952"/>
            <a:ext cx="54864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SmartRead Agent｜软件项目研发实践（3）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473952"/>
            <a:ext cx="1920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A03 组 林立洲 / 江轩宇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20240"/>
            <a:ext cx="5257800" cy="283464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94560"/>
            <a:ext cx="429768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000" b="1">
                <a:solidFill>
                  <a:srgbClr val="047857"/>
                </a:solidFill>
                <a:latin typeface="Microsoft YaHei"/>
              </a:rPr>
              <a:t>已经完成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4434840" cy="1508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7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• 完成 Android 端可运行 App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• 形成阅读分析、端侧 AI、问答复习、历史回看的闭环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• 完成 LiteRT 模型集成、APK 构建和材料归档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20240"/>
            <a:ext cx="4800600" cy="283464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94560"/>
            <a:ext cx="393192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Microsoft YaHei"/>
              </a:rPr>
              <a:t>后续方向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97480"/>
            <a:ext cx="3977639" cy="1508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7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• 扩大训练数据并改进句子重要性模型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• 历史记录迁移到 Room 数据库</a:t>
            </a:r>
          </a:p>
          <a:p>
            <a:pPr>
              <a:spcAft>
                <a:spcPts val="7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• 增加 OCR 导入和可选云端增强能力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349240"/>
            <a:ext cx="859536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Microsoft YaHei"/>
              </a:rPr>
              <a:t>SmartRead Agent V1.0 已形成可运行、可演示、可复查的课程项目交付。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
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Rounded Rectangle 9"/>
          <p:cNvSpPr/>
          <p:nvPr/>
        </p:nvSpPr>
        <p:spPr>
          <a:xfrm>
            <a:off x="7498079" y="475488"/>
            <a:ext cx="2743200" cy="5961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164592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1E40AF"/>
                </a:solidFill>
                <a:latin typeface="Microsoft YaHei"/>
              </a:rPr>
              <a:t>课程项目汇报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6035040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Microsoft YaHei"/>
              </a:rPr>
              <a:t>SmartRead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755648"/>
            <a:ext cx="630936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Microsoft YaHei"/>
              </a:rPr>
              <a:t>面向学习文本的移动端智能阅读助手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A03 组｜林立洲 121072021030｜江轩宇 121052023075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83464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Android / Kotlin / Jetpack Compose / LiteRT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603504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福建师范大学 2023 级软件工程 2 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315968"/>
            <a:ext cx="5394960" cy="10058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项目目标：在 Android 端完成文本阅读分析、端侧句子重要性评分、问答复习和历史回看。</a:t>
            </a:r>
          </a:p>
          <a:p>
            <a:pPr>
              <a:spcAft>
                <a:spcPts val="700"/>
              </a:spcAft>
              <a:defRPr sz="1300">
                <a:solidFill>
                  <a:srgbClr val="1E40AF"/>
                </a:solidFill>
                <a:latin typeface="Microsoft YaHei"/>
              </a:defRPr>
            </a:pPr>
            <a:r>
              <a:t>汇报重点：应用价值、功能完整度、LiteRT 集成、工程实现和团队协作。</a:t>
            </a:r>
          </a:p>
        </p:txBody>
      </p:sp>
      <p:pic>
        <p:nvPicPr>
          <p:cNvPr id="9" name="Picture 8" descr="V1.0首页_20260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3" y="530352"/>
            <a:ext cx="263347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Rounded Rectangle 19"/>
          <p:cNvSpPr/>
          <p:nvPr/>
        </p:nvSpPr>
        <p:spPr>
          <a:xfrm>
            <a:off x="7953245" y="1728216"/>
            <a:ext cx="3067310" cy="48188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选题背景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学生阅读资料时，最耗时间的不是打开文章，而是整理重点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8366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2082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阅读材料长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2082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教材片段、课堂资料和技术文章信息密度高，第一次阅读很难快速抓住主线。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84378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8094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整理过程散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98094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摘要、关键词、复习点通常分散在笔记里，回看时需要重新梳理。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803904"/>
            <a:ext cx="6080760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4106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1E40AF"/>
                </a:solidFill>
                <a:latin typeface="Microsoft YaHei"/>
              </a:rPr>
              <a:t>移动端高频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941064"/>
            <a:ext cx="3977639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手机是学生最容易随手使用的设备，适合承载轻量阅读辅助流程。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919472"/>
            <a:ext cx="6080760" cy="841248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设计取向：不做泛泛的聊天工具，而是聚焦“课程资料阅读”这一高频小场景。</a:t>
            </a:r>
          </a:p>
          <a:p>
            <a:pPr>
              <a:spcAft>
                <a:spcPts val="700"/>
              </a:spcAft>
              <a:defRPr sz="1400">
                <a:solidFill>
                  <a:srgbClr val="047857"/>
                </a:solidFill>
                <a:latin typeface="Microsoft YaHei"/>
              </a:defRPr>
            </a:pPr>
            <a:r>
              <a:t>V1.0 的价值在于把阅读、理解和复习整理放进一个移动端闭环。</a:t>
            </a:r>
          </a:p>
        </p:txBody>
      </p:sp>
      <p:pic>
        <p:nvPicPr>
          <p:cNvPr id="19" name="Picture 18" descr="text_inpu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09" y="1783080"/>
            <a:ext cx="295758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8037576" y="1985446"/>
            <a:ext cx="2990088" cy="4304427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把“读文章、抓重点、问问题、做复习”串成一个闭环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2697480" cy="135331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输入文本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手动粘贴或选择示例文本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1920240"/>
            <a:ext cx="2697480" cy="1353312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2121408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103120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智能分析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670048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摘要、关键词、分点摘要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767328"/>
            <a:ext cx="2697480" cy="1353312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9616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端侧评分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LiteRT 输出句子重要性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3767328"/>
            <a:ext cx="2697480" cy="1353312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4487" y="3968496"/>
            <a:ext cx="50292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8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9704" y="3950208"/>
            <a:ext cx="1600200" cy="29260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Microsoft YaHei"/>
              </a:rPr>
              <a:t>复习回看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517136"/>
            <a:ext cx="2148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Microsoft YaHei"/>
              </a:rPr>
              <a:t>Agent、卡片、复习题、历史记录</a:t>
            </a:r>
          </a:p>
        </p:txBody>
      </p:sp>
      <p:pic>
        <p:nvPicPr>
          <p:cNvPr id="25" name="Picture 24" descr="summa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2040310"/>
            <a:ext cx="2880360" cy="41946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/>
        </p:nvSpPr>
        <p:spPr>
          <a:xfrm>
            <a:off x="8037576" y="1901553"/>
            <a:ext cx="2990088" cy="447221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V1.0 功能总览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功能不是孤立堆叠，而是围绕阅读学习流程组织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输入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文本输入、示例文本、字符统计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874519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039112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2404872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一句话总结、关键词、分点摘要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端侧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LiteRT 句子重要性分析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456432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7" y="3621024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问答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7" y="3986783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本地规则型阅读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复习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知识卡片、复习题、参考答案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5038344"/>
            <a:ext cx="2487168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7" y="5202936"/>
            <a:ext cx="192024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700" b="1">
                <a:solidFill>
                  <a:srgbClr val="047857"/>
                </a:solidFill>
                <a:latin typeface="Microsoft YaHei"/>
              </a:rPr>
              <a:t>回看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5887" y="5568696"/>
            <a:ext cx="1965960" cy="3657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20" b="0">
                <a:solidFill>
                  <a:srgbClr val="1E293B"/>
                </a:solidFill>
                <a:latin typeface="Microsoft YaHei"/>
              </a:rPr>
              <a:t>历史记录保存、恢复、清空</a:t>
            </a:r>
          </a:p>
        </p:txBody>
      </p:sp>
      <p:pic>
        <p:nvPicPr>
          <p:cNvPr id="27" name="Picture 26" descr="ent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956417"/>
            <a:ext cx="2880360" cy="43624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核心界面展示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从首页到学习材料，主要页面已经形成完整操作路径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16" y="1993392"/>
            <a:ext cx="2305526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首页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mmary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83" y="1993392"/>
            <a:ext cx="295107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摘要结果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Android 本地分析为主，模型文件随 APK 集成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UI 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Jetpack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首页、结果页、Agent、知识卡片、历史记录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分析层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TextAnalyzer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摘要、关键词、分点摘要、句子切分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智能层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LocalReadingAgent + LiteRT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问答意图识别、端侧句子重要性评分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HistoryRepository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SharedPreferences 保存最近 12 条分析记录</a:t>
            </a:r>
          </a:p>
        </p:txBody>
      </p:sp>
      <p:pic>
        <p:nvPicPr>
          <p:cNvPr id="25" name="Picture 24" descr="SmartReadAgent_模块关系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7946136" y="1962143"/>
            <a:ext cx="3081528" cy="435103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端侧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LiteRT 端侧句子重要性分析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移动机器学习部分落实到模型文件、端侧推理和界面展示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19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文本句子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7712" y="2002535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切分文章前若干句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24911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7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5 维特征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2852927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长度、关键词、位置、标点、提示词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75303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703319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.tflite 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3703319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assets 集成并本地推理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25695"/>
            <a:ext cx="5989320" cy="713232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553711"/>
            <a:ext cx="123444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重要性等级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7712" y="4553711"/>
            <a:ext cx="3977639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150" b="0">
                <a:solidFill>
                  <a:srgbClr val="1E293B"/>
                </a:solidFill>
                <a:latin typeface="Microsoft YaHei"/>
              </a:rPr>
              <a:t>分数转为高/中/低展示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6692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0F172A"/>
                </a:solidFill>
                <a:latin typeface="Microsoft YaHei"/>
              </a:rPr>
              <a:t>Text → Feature Vector → LiteRT Interpreter → Score / Level</a:t>
            </a:r>
          </a:p>
        </p:txBody>
      </p:sp>
      <p:pic>
        <p:nvPicPr>
          <p:cNvPr id="22" name="Picture 21" descr="litert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17007"/>
            <a:ext cx="2971800" cy="42413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1" name="Rounded Rectangle 20"/>
          <ns0:cNvSpPr/>
          <ns0:nvPr/>
        </ns0:nvSpPr>
        <ns0:spPr>
          <ns1:xfrm>
            <ns1:off x="7946136" y="1839520"/>
            <ns1:ext cx="3081528" cy="4596280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08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问答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Agent 问答设计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围绕当前文章分析结果回答，强调稳定、可解释、可复现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0195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87552" y="205740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输入来源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267712" y="205740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当前文章摘要、关键词、分点摘要、复习题和知识卡片。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49808" y="299923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87552" y="315468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意图识别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267712" y="315468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区分概括、关键词、复习重点、复习题、卡片提示等问题类型。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49808" y="4096512"/>
            <ns1:ext cx="5989320" cy="93268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87552" y="4251960"/>
            <ns1:ext cx="123444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500" b="1">
                <ns1:solidFill>
                  <ns1:srgbClr val="047857"/>
                </ns1:solidFill>
                <ns1:latin typeface="Microsoft YaHei"/>
              </ns1:rPr>
              <ns1:t>回答方式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267712" y="4251960"/>
            <ns1:ext cx="3886200" cy="384048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150" b="0">
                <ns1:solidFill>
                  <ns1:srgbClr val="1E293B"/>
                </ns1:solidFill>
                <ns1:latin typeface="Microsoft YaHei"/>
              </ns1:rPr>
              <ns1:t>使用本地规则组织答案，不依赖外部大模型接口。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49808" y="5321808"/>
            <ns1:ext cx="5989320" cy="566928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87552" y="5468112"/>
            <ns1:ext cx="5440680" cy="21945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047857"/>
                </ns1:solidFill>
                <ns1:latin typeface="Microsoft YaHei"/>
              </ns1:rPr>
              <ns1:t>Agent 定位：围绕当前文章内容提供阅读问答，不扩展为泛聊天工具。</ns1:t>
            </ns1:r>
          </ns1:p>
        </ns0:txBody>
      </ns0:sp>
      <ns0:pic>
        <ns0:nvPicPr>
          <ns0:cNvPr id="20" name="Picture 19" descr="agen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8001000" y="1894384"/>
            <ns1:ext cx="2971800" cy="4486552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学习材料生成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把阅读结果转化为可复习的卡片和题目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nowledge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057" y="1993392"/>
            <a:ext cx="2912243" cy="4297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39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知识卡片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828800"/>
            <a:ext cx="370332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uiz_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3498" y="1993392"/>
            <a:ext cx="2912243" cy="4297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12280" y="6236208"/>
            <a:ext cx="31546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300" b="1">
                <a:solidFill>
                  <a:srgbClr val="1E40AF"/>
                </a:solidFill>
                <a:latin typeface="Microsoft YaHei"/>
              </a:rPr>
              <a:t>复习题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5934456" y="2154022"/>
            <a:ext cx="5504688" cy="341863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数据对象与本地存储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分析结果、问答消息、学习材料和历史记录都有明确结构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74519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011679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ArticleAnalysis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011679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主分析结果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011679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原文、摘要、关键词、分点摘要、句子重要性列表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70631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907791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ChatMessage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907791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问答消息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07791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角色、内容、时间戳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666743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803903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KnowledgeCard / QuizQuestion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803903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复习材料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03903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卡片标题、内容、题目、参考答案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562855"/>
            <a:ext cx="48006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700015"/>
            <a:ext cx="109728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1">
                <a:solidFill>
                  <a:srgbClr val="1E40AF"/>
                </a:solidFill>
                <a:latin typeface="Microsoft YaHei"/>
              </a:rPr>
              <a:t>HistoryRecord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700015"/>
            <a:ext cx="16002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</a:rPr>
              <a:t>历史记录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700015"/>
            <a:ext cx="16002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</a:rPr>
              <a:t>标题、预览、保存时间、原文和摘要信息</a:t>
            </a:r>
          </a:p>
        </p:txBody>
      </p:sp>
      <p:pic>
        <p:nvPicPr>
          <p:cNvPr id="25" name="Picture 24" descr="SmartReadAgent_对象模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08886"/>
            <a:ext cx="5394960" cy="33089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2" name="Rounded Rectangle 21"/>
          <ns0:cNvSpPr/>
          <ns0:nvPr/>
        </ns0:nvSpPr>
        <ns0:spPr>
          <ns1:xfrm>
            <ns1:off x="7351776" y="1942300"/>
            <ns1:ext cx="2624328" cy="3942661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11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工程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工程实现与版本收口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从代码、模型、APK 到文档材料形成可复查交付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13232" y="1874519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941832" y="2029967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Android 工程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2395728" y="2029967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Kotlin + Compose，入口为 MainActivity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713232" y="2761487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941832" y="2916935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模型文件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2395728" y="2916935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sentence_importance_model.tflite 集成到 assets</ns1:t>
            </ns1:r>
          </ns1:p>
        </ns0:txBody>
      </ns0:sp>
      <ns0:sp>
        <ns0:nvSpPr>
          <ns0:cNvPr id="15" name="Rounded Rectangle 14"/>
          <ns0:cNvSpPr/>
          <ns0:nvPr/>
        </ns0:nvSpPr>
        <ns0:spPr>
          <ns1:xfrm>
            <ns1:off x="713232" y="3648455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6" name="TextBox 15"/>
          <ns0:cNvSpPr txBox="1"/>
          <ns0:nvPr/>
        </ns0:nvSpPr>
        <ns0:spPr>
          <ns1:xfrm>
            <ns1:off x="941832" y="3803903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APK 产物</ns1:t>
            </ns1:r>
          </ns1:p>
        </ns0:txBody>
      </ns0:sp>
      <ns0:sp>
        <ns0:nvSpPr>
          <ns0:cNvPr id="17" name="TextBox 16"/>
          <ns0:cNvSpPr txBox="1"/>
          <ns0:nvPr/>
        </ns0:nvSpPr>
        <ns0:spPr>
          <ns1:xfrm>
            <ns1:off x="2395728" y="3803903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SmartReadAgent-v1.0-debug.apk</ns1:t>
            </ns1:r>
          </ns1:p>
        </ns0:txBody>
      </ns0:sp>
      <ns0:sp>
        <ns0:nvSpPr>
          <ns0:cNvPr id="18" name="Rounded Rectangle 17"/>
          <ns0:cNvSpPr/>
          <ns0:nvPr/>
        </ns0:nvSpPr>
        <ns0:spPr>
          <ns1:xfrm>
            <ns1:off x="713232" y="4535423"/>
            <ns1:ext cx="5120640" cy="749808"/>
          </ns1:xfrm>
          <ns1:prstGeom prst="roundRect">
            <ns1:avLst/>
          </ns1:prstGeom>
          <ns1:solidFill>
            <ns1:srgbClr val="FFFFFF"/>
          </ns1:solidFill>
          <ns1:ln w="15240">
            <ns1:solidFill>
              <ns1:srgbClr val="CBD5E1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9" name="TextBox 18"/>
          <ns0:cNvSpPr txBox="1"/>
          <ns0:nvPr/>
        </ns0:nvSpPr>
        <ns0:spPr>
          <ns1:xfrm>
            <ns1:off x="941832" y="4690871"/>
            <ns1:ext cx="13258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400" b="1">
                <ns1:solidFill>
                  <ns1:srgbClr val="1E40AF"/>
                </ns1:solidFill>
                <ns1:latin typeface="Microsoft YaHei"/>
              </ns1:rPr>
              <ns1:t>文档材料</ns1:t>
            </ns1:r>
          </ns1:p>
        </ns0:txBody>
      </ns0:sp>
      <ns0:sp>
        <ns0:nvSpPr>
          <ns0:cNvPr id="20" name="TextBox 19"/>
          <ns0:cNvSpPr txBox="1"/>
          <ns0:nvPr/>
        </ns0:nvSpPr>
        <ns0:spPr>
          <ns1:xfrm>
            <ns1:off x="2395728" y="4690871"/>
            <ns1:ext cx="292608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0">
                <ns1:solidFill>
                  <ns1:srgbClr val="1E293B"/>
                </ns1:solidFill>
                <ns1:latin typeface="Microsoft YaHei"/>
              </ns1:rPr>
              <ns1:t>README、项目说明、详细设计说明书、功能说明</ns1:t>
            </ns1:r>
          </ns1:p>
        </ns0:txBody>
      </ns0:sp>
      <ns0:pic>
        <ns0:nvPicPr>
          <ns0:cNvPr id="21" name="Picture 20" descr="history_list_focus.png"/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406640" y="1997164"/>
            <ns1:ext cx="2514600" cy="3832933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迭代过程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从 MVP 到 V1.0，每个阶段都保留可运行成果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0120" y="3063240"/>
            <a:ext cx="10104120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立项与仓库初始化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78608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8336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8336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文本输入与摘要 MVP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Agent、知识卡片、复习题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LiteRT 端侧模型集成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2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历史记录与体验完善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66960" y="2743200"/>
            <a:ext cx="160020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6688" y="2889504"/>
            <a:ext cx="132588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500" b="1">
                <a:solidFill>
                  <a:srgbClr val="1E40AF"/>
                </a:solidFill>
                <a:latin typeface="Microsoft YaHei"/>
              </a:rPr>
              <a:t>v1.0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6688" y="3273552"/>
            <a:ext cx="132588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/>
            <a:r>
              <a:rPr sz="1080" b="0">
                <a:solidFill>
                  <a:srgbClr val="1E293B"/>
                </a:solidFill>
                <a:latin typeface="Microsoft YaHei"/>
              </a:rPr>
              <a:t>APK、测试、文档与汇报材料收口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280" y="4709160"/>
            <a:ext cx="9966960" cy="868680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5EEA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047857"/>
                </a:solidFill>
                <a:latin typeface="Microsoft YaHei"/>
              </a:defRPr>
            </a:pPr>
            <a:r>
              <a:t>迭代策略：每个阶段先保证可运行，再补充测试截图、版本记录和提交材料。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小组分工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双人协作完成开发、测试、演示和材料整理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林立洲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项目方案、Android 核心开发、本地摘要、Agent、LiteRT 集成、版本管理、文档与汇报材料。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965960"/>
            <a:ext cx="489204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4297680" cy="320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Microsoft YaHei"/>
              </a:rPr>
              <a:t>江轩宇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16352"/>
            <a:ext cx="4251960" cy="7772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Microsoft YaHei"/>
              </a:rPr>
              <a:t>需求反馈、安卓真机体验、功能流程验证、UI 使用建议、文档校对和手机端操作配合。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4709160"/>
            <a:ext cx="8183879" cy="84124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700"/>
              </a:spcAft>
              <a:defRPr sz="1500">
                <a:solidFill>
                  <a:srgbClr val="1E40AF"/>
                </a:solidFill>
                <a:latin typeface="Microsoft YaHei"/>
              </a:defRPr>
            </a:pPr>
            <a:r>
              <a:t>协作方式：开发、真机体验、文档校对和演示操作分开推进，最终统一到 V1.0 交付材料。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7488936" y="2018294"/>
            <a:ext cx="2578608" cy="38729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29184"/>
            <a:ext cx="91440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icrosoft YaHe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2194560" cy="274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Microsoft YaHei"/>
              </a:rPr>
              <a:t>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7132320" cy="49377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icrosoft YaHei"/>
              </a:rPr>
              <a:t>测试与运行结果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170432"/>
            <a:ext cx="7863840" cy="329184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Microsoft YaHei"/>
              </a:rPr>
              <a:t>以主要流程可安装、可运行、可复现作为 V1.0 验收标准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27632"/>
            <a:ext cx="11183112" cy="0"/>
          </a:xfrm>
          <a:prstGeom prst="line">
            <a:avLst/>
          </a:prstGeom>
          <a:ln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0352" y="6473952"/>
            <a:ext cx="548640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Microsoft YaHei"/>
              </a:rPr>
              <a:t>SmartRead Agent｜软件项目研发实践（3）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73952"/>
            <a:ext cx="1920240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Microsoft YaHei"/>
              </a:rPr>
              <a:t>A03 组 林立洲 / 江轩宇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399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功能覆盖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057399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摘要、关键词、分点摘要、LiteRT、Agent、知识卡片、复习题、历史记录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990087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72967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运行验证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172967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模拟器回归验证，安卓真机完成体验反馈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105655"/>
            <a:ext cx="539496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5"/>
            <a:ext cx="1280160" cy="25603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500" b="1">
                <a:solidFill>
                  <a:srgbClr val="047857"/>
                </a:solidFill>
                <a:latin typeface="Microsoft YaHei"/>
              </a:rPr>
              <a:t>交付状态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288535"/>
            <a:ext cx="3520440" cy="4114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Microsoft YaHei"/>
              </a:rPr>
              <a:t>源码、模型、APK、截图、设计说明书和汇报材料已归档</a:t>
            </a:r>
          </a:p>
        </p:txBody>
      </p:sp>
      <p:pic>
        <p:nvPicPr>
          <p:cNvPr id="18" name="Picture 17" descr="history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073158"/>
            <a:ext cx="2468880" cy="3763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F8FAFC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extBox 1"/>
          <ns0:cNvSpPr txBox="1"/>
          <ns0:nvPr/>
        </ns0:nvSpPr>
        <ns0:spPr>
          <ns1:xfrm>
            <ns1:off x="502920" y="329184"/>
            <ns1:ext cx="914400" cy="256032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200" b="1">
                <ns1:solidFill>
                  <ns1:srgbClr val="1E40AF"/>
                </ns1:solidFill>
                <ns1:latin typeface="Microsoft YaHei"/>
              </ns1:rPr>
              <ns1:t>15</ns1:t>
            </ns1:r>
          </ns1:p>
        </ns0:txBody>
      </ns0:sp>
      <ns0:sp>
        <ns0:nvSpPr>
          <ns0:cNvPr id="3" name="TextBox 2"/>
          <ns0:cNvSpPr txBox="1"/>
          <ns0:nvPr/>
        </ns0:nvSpPr>
        <ns0:spPr>
          <ns1:xfrm>
            <ns1:off x="1005840" y="283464"/>
            <ns1:ext cx="2194560" cy="27432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000" b="1">
                <ns1:solidFill>
                  <ns1:srgbClr val="64748B"/>
                </ns1:solidFill>
                <ns1:latin typeface="Microsoft YaHei"/>
              </ns1:rPr>
              <ns1:t>总结</ns1:t>
            </ns1:r>
          </ns1:p>
        </ns0:txBody>
      </ns0:sp>
      <ns0:sp>
        <ns0:nvSpPr>
          <ns0:cNvPr id="4" name="TextBox 3"/>
          <ns0:cNvSpPr txBox="1"/>
          <ns0:nvPr/>
        </ns0:nvSpPr>
        <ns0:spPr>
          <ns1:xfrm>
            <ns1:off x="502920" y="685800"/>
            <ns1:ext cx="7132320" cy="493776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800" b="1">
                <ns1:solidFill>
                  <ns1:srgbClr val="0F172A"/>
                </ns1:solidFill>
                <ns1:latin typeface="Microsoft YaHei"/>
              </ns1:rPr>
              <ns1:t>总结与后续优化</ns1:t>
            </ns1:r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521207" y="1170432"/>
            <ns1:ext cx="7863840" cy="329184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1300" b="0">
                <ns1:solidFill>
                  <ns1:srgbClr val="64748B"/>
                </ns1:solidFill>
                <ns1:latin typeface="Microsoft YaHei"/>
              </ns1:rPr>
              <ns1:t>已完成课程项目闭环，同时保留可继续扩展的方向</ns1:t>
            </ns1:r>
          </ns1:p>
        </ns0:txBody>
      </ns0:sp>
      <ns0:cxnSp>
        <ns0:nvCxnSpPr>
          <ns0:cNvPr id="6" name="Connector 5"/>
          <ns0:cNvCxnSpPr/>
          <ns0:nvPr/>
        </ns0:nvCxnSpPr>
        <ns0:spPr>
          <ns1:xfrm>
            <ns1:off x="502920" y="1627632"/>
            <ns1:ext cx="11183112" cy="0"/>
          </ns1:xfrm>
          <ns1:prstGeom prst="line">
            <ns1:avLst/>
          </ns1:prstGeom>
          <ns1:ln>
            <ns1:solidFill>
              <ns1:srgbClr val="CBD5E1"/>
            </ns1:solidFill>
          </ns1:ln>
        </ns0:spPr>
        <ns0:style>
          <ns1:lnRef idx="2">
            <ns1:schemeClr val="accent1"/>
          </ns1:lnRef>
          <ns1:fillRef idx="0">
            <ns1:schemeClr val="accent1"/>
          </ns1:fillRef>
          <ns1:effectRef idx="1">
            <ns1:schemeClr val="accent1"/>
          </ns1:effectRef>
          <ns1:fontRef idx="minor">
            <ns1:schemeClr val="tx1"/>
          </ns1:fontRef>
        </ns0:style>
      </ns0:cxnSp>
      <ns0:sp>
        <ns0:nvSpPr>
          <ns0:cNvPr id="7" name="TextBox 6"/>
          <ns0:cNvSpPr txBox="1"/>
          <ns0:nvPr/>
        </ns0:nvSpPr>
        <ns0:spPr>
          <ns1:xfrm>
            <ns1:off x="530352" y="6473952"/>
            <ns1:ext cx="548640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900" b="0">
                <ns1:solidFill>
                  <ns1:srgbClr val="64748B"/>
                </ns1:solidFill>
                <ns1:latin typeface="Microsoft YaHei"/>
              </ns1:rPr>
              <ns1:t>SmartRead Agent｜软件项目研发实践（3）</ns1:t>
            </ns1:r>
          </ns1:p>
        </ns0:txBody>
      </ns0:sp>
      <ns0:sp>
        <ns0:nvSpPr>
          <ns0:cNvPr id="8" name="TextBox 7"/>
          <ns0:cNvSpPr txBox="1"/>
          <ns0:nvPr/>
        </ns0:nvSpPr>
        <ns0:spPr>
          <ns1:xfrm>
            <ns1:off x="9784080" y="6473952"/>
            <ns1:ext cx="1920240" cy="2286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r"/>
            <ns1:r>
              <ns1:rPr sz="900" b="0">
                <ns1:solidFill>
                  <ns1:srgbClr val="64748B"/>
                </ns1:solidFill>
                <ns1:latin typeface="Microsoft YaHei"/>
              </ns1:rPr>
              <ns1:t>A03 组 林立洲 / 江轩宇</ns1:t>
            </ns1:r>
          </ns1:p>
        </ns0:txBody>
      </ns0:sp>
      <ns0:sp>
        <ns0:nvSpPr>
          <ns0:cNvPr id="9" name="Rounded Rectangle 8"/>
          <ns0:cNvSpPr/>
          <ns0:nvPr/>
        </ns0:nvSpPr>
        <ns0:spPr>
          <ns1:xfrm>
            <ns1:off x="749808" y="1920240"/>
            <ns1:ext cx="5257800" cy="2834640"/>
          </ns1:xfrm>
          <ns1:prstGeom prst="roundRect">
            <ns1:avLst/>
          </ns1:prstGeom>
          <ns1:solidFill>
            <ns1:srgbClr val="F0FDFA"/>
          </ns1:solidFill>
          <ns1:ln w="15240">
            <ns1:solidFill>
              <ns1:srgbClr val="5EEAD4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0" name="TextBox 9"/>
          <ns0:cNvSpPr txBox="1"/>
          <ns0:nvPr/>
        </ns0:nvSpPr>
        <ns0:spPr>
          <ns1:xfrm>
            <ns1:off x="1024128" y="2194560"/>
            <ns1:ext cx="429768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047857"/>
                </ns1:solidFill>
                <ns1:latin typeface="Microsoft YaHei"/>
              </ns1:rPr>
              <ns1:t>已经完成</ns1:t>
            </ns1:r>
          </ns1:p>
        </ns0:txBody>
      </ns0:sp>
      <ns0:sp>
        <ns0:nvSpPr>
          <ns0:cNvPr id="11" name="TextBox 10"/>
          <ns0:cNvSpPr txBox="1"/>
          <ns0:nvPr/>
        </ns0:nvSpPr>
        <ns0:spPr>
          <ns1:xfrm>
            <ns1:off x="1024128" y="2697480"/>
            <ns1:ext cx="4434840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Android 端可运行 App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形成阅读分析、端侧 AI、问答复习、历史回看的闭环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完成 LiteRT 模型集成、APK 构建和材料归档</ns1:t>
            </ns1:r>
          </ns1:p>
        </ns0:txBody>
      </ns0:sp>
      <ns0:sp>
        <ns0:nvSpPr>
          <ns0:cNvPr id="12" name="Rounded Rectangle 11"/>
          <ns0:cNvSpPr/>
          <ns0:nvPr/>
        </ns0:nvSpPr>
        <ns0:spPr>
          <ns1:xfrm>
            <ns1:off x="6400800" y="1920240"/>
            <ns1:ext cx="4800600" cy="2834640"/>
          </ns1:xfrm>
          <ns1:prstGeom prst="roundRect">
            <ns1:avLst/>
          </ns1:prstGeom>
          <ns1:solidFill>
            <ns1:srgbClr val="FFFBEB"/>
          </ns1:solidFill>
          <ns1:ln w="15240">
            <ns1:solidFill>
              <ns1:srgbClr val="FCD34D"/>
            </ns1:solidFill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</ns1:p>
        </ns0:txBody>
      </ns0:sp>
      <ns0:sp>
        <ns0:nvSpPr>
          <ns0:cNvPr id="13" name="TextBox 12"/>
          <ns0:cNvSpPr txBox="1"/>
          <ns0:nvPr/>
        </ns0:nvSpPr>
        <ns0:spPr>
          <ns1:xfrm>
            <ns1:off x="6675120" y="2194560"/>
            <ns1:ext cx="3931920" cy="32004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l"/>
            <ns1:r>
              <ns1:rPr sz="2000" b="1">
                <ns1:solidFill>
                  <ns1:srgbClr val="D97706"/>
                </ns1:solidFill>
                <ns1:latin typeface="Microsoft YaHei"/>
              </ns1:rPr>
              <ns1:t>后续方向</ns1:t>
            </ns1:r>
          </ns1:p>
        </ns0:txBody>
      </ns0:sp>
      <ns0:sp>
        <ns0:nvSpPr>
          <ns0:cNvPr id="14" name="TextBox 13"/>
          <ns0:cNvSpPr txBox="1"/>
          <ns0:nvPr/>
        </ns0:nvSpPr>
        <ns0:spPr>
          <ns1:xfrm>
            <ns1:off x="6675120" y="2697480"/>
            <ns1:ext cx="3977639" cy="1508760"/>
          </ns1:xfrm>
          <ns1:prstGeom prst="rect">
            <ns1:avLst/>
          </ns1:prstGeom>
          <ns1:noFill/>
        </ns0:spPr>
        <ns0:txBody>
          <ns1:bodyPr wrap="square" lIns="18288" rIns="18288" anchor="t">
            <ns1:spAutoFit/>
          </ns1:bodyPr>
          <ns1:lstStyle/>
          <ns1:p>
            <ns1:pPr algn="l"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扩大训练数据并改进句子重要性模型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历史记录迁移到 Room 数据库</ns1:t>
            </ns1:r>
          </ns1:p>
          <ns1:p>
            <ns1:pPr>
              <ns1:spcAft>
                <ns1:spcPts val="700"/>
              </ns1:spcAft>
              <ns1:defRPr sz="1400">
                <ns1:solidFill>
                  <ns1:srgbClr val="1E293B"/>
                </ns1:solidFill>
                <ns1:latin typeface="Microsoft YaHei"/>
              </ns1:defRPr>
            </ns1:pPr>
            <ns1:r>
              <ns1:t>• 增加 OCR 导入和可选云端增强能力</ns1:t>
            </ns1:r>
          </ns1:p>
        </ns0:txBody>
      </ns0:sp>
      <ns0:sp>
        <ns0:nvSpPr>
          <ns0:cNvPr id="15" name="TextBox 14"/>
          <ns0:cNvSpPr txBox="1"/>
          <ns0:nvPr/>
        </ns0:nvSpPr>
        <ns0:spPr>
          <ns1:xfrm>
            <ns1:off x="1828800" y="5349240"/>
            <ns1:ext cx="8595360" cy="457200"/>
          </ns1:xfrm>
          <ns1:prstGeom prst="rect">
            <ns1:avLst/>
          </ns1:prstGeom>
          <ns1:noFill/>
        </ns0:spPr>
        <ns0:txBody>
          <ns1:bodyPr wrap="square" lIns="18288" rIns="18288">
            <ns1:spAutoFit/>
          </ns1:bodyPr>
          <ns1:lstStyle/>
          <ns1:p>
            <ns1:pPr algn="ctr"/>
            <ns1:r>
              <ns1:rPr sz="2000" b="1">
                <ns1:solidFill>
                  <ns1:srgbClr val="0F172A"/>
                </ns1:solidFill>
                <ns1:latin typeface="Microsoft YaHei"/>
              </ns1:rPr>
              <ns1:t>SmartRead Agent V1.0 已形成可安装、可运行、可复查的课程项目交付。</ns1:t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
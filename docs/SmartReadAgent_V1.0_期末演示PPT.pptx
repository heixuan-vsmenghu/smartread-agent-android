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5669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5202B"/>
                </a:solidFill>
                <a:latin typeface="Microsoft YaHei"/>
              </a:defRPr>
            </a:pPr>
            <a:r>
              <a:t>SmartRead Agent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627632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77C78"/>
                </a:solidFill>
                <a:latin typeface="Microsoft YaHei"/>
              </a:defRPr>
            </a:pPr>
            <a:r>
              <a:t>AI 智读助手｜Android/Kotlin + Jetpack Compose｜期末演示稳定版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5202B"/>
                </a:solidFill>
                <a:latin typeface="Microsoft YaHei"/>
              </a:defRPr>
            </a:pPr>
            <a:r>
              <a:t>面向课程资料、教材片段和技术文章的移动端阅读辅助 App。</a:t>
            </a:r>
          </a:p>
          <a:p>
            <a:pPr>
              <a:spcAft>
                <a:spcPts val="800"/>
              </a:spcAft>
              <a:defRPr sz="1600">
                <a:solidFill>
                  <a:srgbClr val="15202B"/>
                </a:solidFill>
                <a:latin typeface="Microsoft YaHei"/>
              </a:defRPr>
            </a:pPr>
            <a:r>
              <a:t>V1.0 冻结功能范围，重点保证演示稳定、材料完整、过程可追溯。</a:t>
            </a:r>
          </a:p>
          <a:p>
            <a:pPr>
              <a:spcAft>
                <a:spcPts val="800"/>
              </a:spcAft>
              <a:defRPr sz="1600">
                <a:solidFill>
                  <a:srgbClr val="15202B"/>
                </a:solidFill>
                <a:latin typeface="Microsoft YaHei"/>
              </a:defRPr>
            </a:pPr>
            <a:r>
              <a:t>项目同时服务《软件开发实践（三）》与《软件项目管理》两门课程。</a:t>
            </a:r>
          </a:p>
        </p:txBody>
      </p:sp>
      <p:pic>
        <p:nvPicPr>
          <p:cNvPr id="5" name="Picture 4" descr="V1.0首页_20260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3825" y="502920"/>
            <a:ext cx="2571750" cy="5715000"/>
          </a:xfrm>
          <a:prstGeom prst="rect">
            <a:avLst/>
          </a:prstGeom>
          <a:ln>
            <a:solidFill>
              <a:srgbClr val="E2E8F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060704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66373"/>
                </a:solidFill>
                <a:latin typeface="Microsoft YaHei"/>
              </a:defRPr>
            </a:pPr>
            <a: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202B"/>
                </a:solidFill>
                <a:latin typeface="Microsoft YaHei"/>
              </a:defRPr>
            </a:pPr>
            <a:r>
              <a:t>项目背景与目标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77824"/>
            <a:ext cx="9326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6373"/>
                </a:solidFill>
                <a:latin typeface="Microsoft YaHei"/>
              </a:defRPr>
            </a:pPr>
            <a:r>
              <a:t>从长文本阅读痛点出发，形成可演示的移动端 AI 阅读闭环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828800" cy="45720"/>
          </a:xfrm>
          <a:prstGeom prst="rect">
            <a:avLst/>
          </a:prstGeom>
          <a:solidFill>
            <a:srgbClr val="177C78"/>
          </a:solidFill>
          <a:ln>
            <a:solidFill>
              <a:srgbClr val="177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5202B"/>
                </a:solidFill>
                <a:latin typeface="Microsoft YaHei"/>
              </a:defRPr>
            </a:pPr>
            <a:r>
              <a:t>长文本资料信息量大，手工整理摘要、关键词和复习材料耗时。</a:t>
            </a:r>
          </a:p>
          <a:p>
            <a:pPr>
              <a:spcAft>
                <a:spcPts val="800"/>
              </a:spcAft>
              <a:defRPr sz="1600">
                <a:solidFill>
                  <a:srgbClr val="15202B"/>
                </a:solidFill>
                <a:latin typeface="Microsoft YaHei"/>
              </a:defRPr>
            </a:pPr>
            <a:r>
              <a:t>目标不是堆大功能，而是完成可运行、可测试、可交付的 Android App。</a:t>
            </a:r>
          </a:p>
          <a:p>
            <a:pPr>
              <a:spcAft>
                <a:spcPts val="800"/>
              </a:spcAft>
              <a:defRPr sz="1600">
                <a:solidFill>
                  <a:srgbClr val="15202B"/>
                </a:solidFill>
                <a:latin typeface="Microsoft YaHei"/>
              </a:defRPr>
            </a:pPr>
            <a:r>
              <a:t>V1.0 不接入云端大模型、登录、OCR 或后端服务器，优先保证稳定演示。</a:t>
            </a:r>
          </a:p>
        </p:txBody>
      </p:sp>
      <p:pic>
        <p:nvPicPr>
          <p:cNvPr id="6" name="Picture 5" descr="V1.0首页_20260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1217" y="1325880"/>
            <a:ext cx="2242566" cy="4983480"/>
          </a:xfrm>
          <a:prstGeom prst="rect">
            <a:avLst/>
          </a:prstGeom>
          <a:ln>
            <a:solidFill>
              <a:srgbClr val="E2E8F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60704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66373"/>
                </a:solidFill>
                <a:latin typeface="Microsoft YaHei"/>
              </a:defRPr>
            </a:pPr>
            <a: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202B"/>
                </a:solidFill>
                <a:latin typeface="Microsoft YaHei"/>
              </a:defRPr>
            </a:pPr>
            <a:r>
              <a:t>V1.0 功能范围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77824"/>
            <a:ext cx="9326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6373"/>
                </a:solidFill>
                <a:latin typeface="Microsoft YaHei"/>
              </a:defRPr>
            </a:pPr>
            <a:r>
              <a:t>期末演示稳定版的功能冻结清单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828800" cy="45720"/>
          </a:xfrm>
          <a:prstGeom prst="rect">
            <a:avLst/>
          </a:prstGeom>
          <a:solidFill>
            <a:srgbClr val="177C78"/>
          </a:solidFill>
          <a:ln>
            <a:solidFill>
              <a:srgbClr val="177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5202B"/>
                </a:solidFill>
                <a:latin typeface="Microsoft YaHei"/>
              </a:defRPr>
            </a:pPr>
            <a:r>
              <a:t>文本输入与示例文本</a:t>
            </a:r>
          </a:p>
          <a:p>
            <a:pPr>
              <a:spcAft>
                <a:spcPts val="800"/>
              </a:spcAft>
              <a:defRPr sz="1600">
                <a:solidFill>
                  <a:srgbClr val="15202B"/>
                </a:solidFill>
                <a:latin typeface="Microsoft YaHei"/>
              </a:defRPr>
            </a:pPr>
            <a:r>
              <a:t>本地摘要、关键词提取、分点摘要</a:t>
            </a:r>
          </a:p>
          <a:p>
            <a:pPr>
              <a:spcAft>
                <a:spcPts val="800"/>
              </a:spcAft>
              <a:defRPr sz="1600">
                <a:solidFill>
                  <a:srgbClr val="15202B"/>
                </a:solidFill>
                <a:latin typeface="Microsoft YaHei"/>
              </a:defRPr>
            </a:pPr>
            <a:r>
              <a:t>LiteRT 端侧句子重要性分析</a:t>
            </a:r>
          </a:p>
          <a:p>
            <a:pPr>
              <a:spcAft>
                <a:spcPts val="800"/>
              </a:spcAft>
              <a:defRPr sz="1600">
                <a:solidFill>
                  <a:srgbClr val="15202B"/>
                </a:solidFill>
                <a:latin typeface="Microsoft YaHei"/>
              </a:defRPr>
            </a:pPr>
            <a:r>
              <a:t>Agent 问答、知识卡片、复习题</a:t>
            </a:r>
          </a:p>
          <a:p>
            <a:pPr>
              <a:spcAft>
                <a:spcPts val="800"/>
              </a:spcAft>
              <a:defRPr sz="1600">
                <a:solidFill>
                  <a:srgbClr val="15202B"/>
                </a:solidFill>
                <a:latin typeface="Microsoft YaHei"/>
              </a:defRPr>
            </a:pPr>
            <a:r>
              <a:t>历史记录保存、恢复与清空</a:t>
            </a:r>
          </a:p>
        </p:txBody>
      </p:sp>
      <p:pic>
        <p:nvPicPr>
          <p:cNvPr id="6" name="Picture 5" descr="V1.0操作入口_20260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1217" y="1325880"/>
            <a:ext cx="2242566" cy="4983480"/>
          </a:xfrm>
          <a:prstGeom prst="rect">
            <a:avLst/>
          </a:prstGeom>
          <a:ln>
            <a:solidFill>
              <a:srgbClr val="E2E8F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60704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66373"/>
                </a:solidFill>
                <a:latin typeface="Microsoft YaHei"/>
              </a:defRPr>
            </a:pPr>
            <a: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202B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77824"/>
            <a:ext cx="9326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6373"/>
                </a:solidFill>
                <a:latin typeface="Microsoft YaHei"/>
              </a:defRPr>
            </a:pPr>
            <a:r>
              <a:t>移动端本地处理为主，模型随 APK 打包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828800" cy="45720"/>
          </a:xfrm>
          <a:prstGeom prst="rect">
            <a:avLst/>
          </a:prstGeom>
          <a:solidFill>
            <a:srgbClr val="177C78"/>
          </a:solidFill>
          <a:ln>
            <a:solidFill>
              <a:srgbClr val="177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2423160" cy="960120"/>
          </a:xfrm>
          <a:prstGeom prst="roundRect">
            <a:avLst/>
          </a:prstGeom>
          <a:solidFill>
            <a:srgbClr val="ECFDF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636776"/>
            <a:ext cx="20939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02B"/>
                </a:solidFill>
                <a:latin typeface="Microsoft YaHei"/>
              </a:defRPr>
            </a:pPr>
            <a:r>
              <a:t>输入层</a:t>
            </a:r>
          </a:p>
          <a:p>
            <a:pPr>
              <a:spcBef>
                <a:spcPts val="600"/>
              </a:spcBef>
              <a:defRPr sz="1100">
                <a:solidFill>
                  <a:srgbClr val="566373"/>
                </a:solidFill>
                <a:latin typeface="Microsoft YaHei"/>
              </a:defRPr>
            </a:pPr>
            <a:r>
              <a:t>文本输入、示例文本、历史恢复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508760"/>
            <a:ext cx="2423160" cy="96012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85032" y="1636776"/>
            <a:ext cx="20939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02B"/>
                </a:solidFill>
                <a:latin typeface="Microsoft YaHei"/>
              </a:defRPr>
            </a:pPr>
            <a:r>
              <a:t>分析层</a:t>
            </a:r>
          </a:p>
          <a:p>
            <a:pPr>
              <a:spcBef>
                <a:spcPts val="600"/>
              </a:spcBef>
              <a:defRPr sz="1100">
                <a:solidFill>
                  <a:srgbClr val="566373"/>
                </a:solidFill>
                <a:latin typeface="Microsoft YaHei"/>
              </a:defRPr>
            </a:pPr>
            <a:r>
              <a:t>摘要、关键词、分点摘要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2423160" cy="960120"/>
          </a:xfrm>
          <a:prstGeom prst="roundRect">
            <a:avLst/>
          </a:prstGeom>
          <a:solidFill>
            <a:srgbClr val="FFF7E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1636776"/>
            <a:ext cx="20939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02B"/>
                </a:solidFill>
                <a:latin typeface="Microsoft YaHei"/>
              </a:defRPr>
            </a:pPr>
            <a:r>
              <a:t>AI 层</a:t>
            </a:r>
          </a:p>
          <a:p>
            <a:pPr>
              <a:spcBef>
                <a:spcPts val="600"/>
              </a:spcBef>
              <a:defRPr sz="1100">
                <a:solidFill>
                  <a:srgbClr val="566373"/>
                </a:solidFill>
                <a:latin typeface="Microsoft YaHei"/>
              </a:defRPr>
            </a:pPr>
            <a:r>
              <a:t>Agent、本地规则、LiteRT 模型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1508760"/>
            <a:ext cx="2423160" cy="960120"/>
          </a:xfrm>
          <a:prstGeom prst="roundRect">
            <a:avLst/>
          </a:prstGeom>
          <a:solidFill>
            <a:srgbClr val="F5F3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71432" y="1636776"/>
            <a:ext cx="20939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02B"/>
                </a:solidFill>
                <a:latin typeface="Microsoft YaHei"/>
              </a:defRPr>
            </a:pPr>
            <a:r>
              <a:t>存储层</a:t>
            </a:r>
          </a:p>
          <a:p>
            <a:pPr>
              <a:spcBef>
                <a:spcPts val="600"/>
              </a:spcBef>
              <a:defRPr sz="1100">
                <a:solidFill>
                  <a:srgbClr val="566373"/>
                </a:solidFill>
                <a:latin typeface="Microsoft YaHei"/>
              </a:defRPr>
            </a:pPr>
            <a:r>
              <a:t>SharedPreferences 历史记录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17520"/>
            <a:ext cx="9875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5202B"/>
                </a:solidFill>
                <a:latin typeface="Microsoft YaHei"/>
              </a:defRPr>
            </a:pPr>
            <a:r>
              <a:t>Android/Kotlin + Jetpack Compose 实现移动端 UI。</a:t>
            </a:r>
          </a:p>
          <a:p>
            <a:pPr>
              <a:spcAft>
                <a:spcPts val="800"/>
              </a:spcAft>
              <a:defRPr sz="1700">
                <a:solidFill>
                  <a:srgbClr val="15202B"/>
                </a:solidFill>
                <a:latin typeface="Microsoft YaHei"/>
              </a:defRPr>
            </a:pPr>
            <a:r>
              <a:t>本地规则与轻量算法生成摘要、关键词、卡片和复习题。</a:t>
            </a:r>
          </a:p>
          <a:p>
            <a:pPr>
              <a:spcAft>
                <a:spcPts val="800"/>
              </a:spcAft>
              <a:defRPr sz="1700">
                <a:solidFill>
                  <a:srgbClr val="15202B"/>
                </a:solidFill>
                <a:latin typeface="Microsoft YaHei"/>
              </a:defRPr>
            </a:pPr>
            <a:r>
              <a:t>LiteRT/TensorFlow Lite 模型在端侧完成句子重要性评分。</a:t>
            </a:r>
          </a:p>
          <a:p>
            <a:pPr>
              <a:spcAft>
                <a:spcPts val="800"/>
              </a:spcAft>
              <a:defRPr sz="1700">
                <a:solidFill>
                  <a:srgbClr val="15202B"/>
                </a:solidFill>
                <a:latin typeface="Microsoft YaHei"/>
              </a:defRPr>
            </a:pPr>
            <a:r>
              <a:t>SharedPreferences 保存小规模演示历史记录。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66373"/>
                </a:solidFill>
                <a:latin typeface="Microsoft YaHei"/>
              </a:defRPr>
            </a:pPr>
            <a: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202B"/>
                </a:solidFill>
                <a:latin typeface="Microsoft YaHei"/>
              </a:defRPr>
            </a:pPr>
            <a:r>
              <a:t>阅读分析结果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77824"/>
            <a:ext cx="9326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6373"/>
                </a:solidFill>
                <a:latin typeface="Microsoft YaHei"/>
              </a:defRPr>
            </a:pPr>
            <a:r>
              <a:t>一句话总结、关键词、分点摘要组成基础阅读分析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828800" cy="45720"/>
          </a:xfrm>
          <a:prstGeom prst="rect">
            <a:avLst/>
          </a:prstGeom>
          <a:solidFill>
            <a:srgbClr val="177C78"/>
          </a:solidFill>
          <a:ln>
            <a:solidFill>
              <a:srgbClr val="177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5202B"/>
                </a:solidFill>
                <a:latin typeface="Microsoft YaHei"/>
              </a:defRPr>
            </a:pPr>
            <a:r>
              <a:t>用户输入或选择示例文本后，一次点击生成阅读分析结果。</a:t>
            </a:r>
          </a:p>
          <a:p>
            <a:pPr>
              <a:spcAft>
                <a:spcPts val="800"/>
              </a:spcAft>
              <a:defRPr sz="1600">
                <a:solidFill>
                  <a:srgbClr val="15202B"/>
                </a:solidFill>
                <a:latin typeface="Microsoft YaHei"/>
              </a:defRPr>
            </a:pPr>
            <a:r>
              <a:t>摘要结果围绕当前文章内容，帮助快速把握主题和重点。</a:t>
            </a:r>
          </a:p>
          <a:p>
            <a:pPr>
              <a:spcAft>
                <a:spcPts val="800"/>
              </a:spcAft>
              <a:defRPr sz="1600">
                <a:solidFill>
                  <a:srgbClr val="15202B"/>
                </a:solidFill>
                <a:latin typeface="Microsoft YaHei"/>
              </a:defRPr>
            </a:pPr>
            <a:r>
              <a:t>分点摘要适合课堂汇报、复习整理和答辩展示。</a:t>
            </a:r>
          </a:p>
        </p:txBody>
      </p:sp>
      <p:pic>
        <p:nvPicPr>
          <p:cNvPr id="6" name="Picture 5" descr="V1.0摘要结果_20260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1217" y="1325880"/>
            <a:ext cx="2242566" cy="4983480"/>
          </a:xfrm>
          <a:prstGeom prst="rect">
            <a:avLst/>
          </a:prstGeom>
          <a:ln>
            <a:solidFill>
              <a:srgbClr val="E2E8F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60704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66373"/>
                </a:solidFill>
                <a:latin typeface="Microsoft YaHei"/>
              </a:defRPr>
            </a:pPr>
            <a: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202B"/>
                </a:solidFill>
                <a:latin typeface="Microsoft YaHei"/>
              </a:defRPr>
            </a:pPr>
            <a:r>
              <a:t>LiteRT 端侧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77824"/>
            <a:ext cx="9326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6373"/>
                </a:solidFill>
                <a:latin typeface="Microsoft YaHei"/>
              </a:defRPr>
            </a:pPr>
            <a:r>
              <a:t>在移动端展示句子重要性分析能力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828800" cy="45720"/>
          </a:xfrm>
          <a:prstGeom prst="rect">
            <a:avLst/>
          </a:prstGeom>
          <a:solidFill>
            <a:srgbClr val="177C78"/>
          </a:solidFill>
          <a:ln>
            <a:solidFill>
              <a:srgbClr val="177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5202B"/>
                </a:solidFill>
                <a:latin typeface="Microsoft YaHei"/>
              </a:defRPr>
            </a:pPr>
            <a:r>
              <a:t>模型输入为句子长度、关键词重合度、位置、标点提示和总结提示词等 5 维特征。</a:t>
            </a:r>
          </a:p>
          <a:p>
            <a:pPr>
              <a:spcAft>
                <a:spcPts val="800"/>
              </a:spcAft>
              <a:defRPr sz="1600">
                <a:solidFill>
                  <a:srgbClr val="15202B"/>
                </a:solidFill>
                <a:latin typeface="Microsoft YaHei"/>
              </a:defRPr>
            </a:pPr>
            <a:r>
              <a:t>模型输出句子重要性得分，并在 App 中展示重要性等级。</a:t>
            </a:r>
          </a:p>
          <a:p>
            <a:pPr>
              <a:spcAft>
                <a:spcPts val="800"/>
              </a:spcAft>
              <a:defRPr sz="1600">
                <a:solidFill>
                  <a:srgbClr val="15202B"/>
                </a:solidFill>
                <a:latin typeface="Microsoft YaHei"/>
              </a:defRPr>
            </a:pPr>
            <a:r>
              <a:t>端侧推理减少网络依赖，适合课程现场演示。</a:t>
            </a:r>
          </a:p>
        </p:txBody>
      </p:sp>
      <p:pic>
        <p:nvPicPr>
          <p:cNvPr id="6" name="Picture 5" descr="V1.0LiteRT端侧分析_20260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1217" y="1325880"/>
            <a:ext cx="2242566" cy="4983480"/>
          </a:xfrm>
          <a:prstGeom prst="rect">
            <a:avLst/>
          </a:prstGeom>
          <a:ln>
            <a:solidFill>
              <a:srgbClr val="E2E8F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60704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66373"/>
                </a:solidFill>
                <a:latin typeface="Microsoft YaHei"/>
              </a:defRPr>
            </a:pPr>
            <a: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202B"/>
                </a:solidFill>
                <a:latin typeface="Microsoft YaHei"/>
              </a:defRPr>
            </a:pPr>
            <a:r>
              <a:t>Agent 与学习材料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77824"/>
            <a:ext cx="9326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6373"/>
                </a:solidFill>
                <a:latin typeface="Microsoft YaHei"/>
              </a:defRPr>
            </a:pPr>
            <a:r>
              <a:t>问答、知识卡片和复习题服务学习场景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828800" cy="45720"/>
          </a:xfrm>
          <a:prstGeom prst="rect">
            <a:avLst/>
          </a:prstGeom>
          <a:solidFill>
            <a:srgbClr val="177C78"/>
          </a:solidFill>
          <a:ln>
            <a:solidFill>
              <a:srgbClr val="177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5202B"/>
                </a:solidFill>
                <a:latin typeface="Microsoft YaHei"/>
              </a:defRPr>
            </a:pPr>
            <a:r>
              <a:t>Agent 问答围绕当前文章摘要、关键词和分点摘要回答，不做空泛聊天。</a:t>
            </a:r>
          </a:p>
          <a:p>
            <a:pPr>
              <a:spcAft>
                <a:spcPts val="800"/>
              </a:spcAft>
              <a:defRPr sz="1600">
                <a:solidFill>
                  <a:srgbClr val="15202B"/>
                </a:solidFill>
                <a:latin typeface="Microsoft YaHei"/>
              </a:defRPr>
            </a:pPr>
            <a:r>
              <a:t>知识卡片把文章重点转化为可复习的条目。</a:t>
            </a:r>
          </a:p>
          <a:p>
            <a:pPr>
              <a:spcAft>
                <a:spcPts val="800"/>
              </a:spcAft>
              <a:defRPr sz="1600">
                <a:solidFill>
                  <a:srgbClr val="15202B"/>
                </a:solidFill>
                <a:latin typeface="Microsoft YaHei"/>
              </a:defRPr>
            </a:pPr>
            <a:r>
              <a:t>复习题和参考答案帮助用户进行自测。</a:t>
            </a:r>
          </a:p>
        </p:txBody>
      </p:sp>
      <p:pic>
        <p:nvPicPr>
          <p:cNvPr id="6" name="Picture 5" descr="V1.0Agent问答_20260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392428"/>
            <a:ext cx="1828800" cy="4064000"/>
          </a:xfrm>
          <a:prstGeom prst="rect">
            <a:avLst/>
          </a:prstGeom>
          <a:ln>
            <a:solidFill>
              <a:srgbClr val="E2E8F0"/>
            </a:solidFill>
          </a:ln>
        </p:spPr>
      </p:pic>
      <p:pic>
        <p:nvPicPr>
          <p:cNvPr id="7" name="Picture 6" descr="V1.0知识卡片_20260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1392428"/>
            <a:ext cx="1828800" cy="4064000"/>
          </a:xfrm>
          <a:prstGeom prst="rect">
            <a:avLst/>
          </a:prstGeom>
          <a:ln>
            <a:solidFill>
              <a:srgbClr val="E2E8F0"/>
            </a:solidFill>
          </a:ln>
        </p:spPr>
      </p:pic>
      <p:pic>
        <p:nvPicPr>
          <p:cNvPr id="8" name="Picture 7" descr="V1.0复习题_202605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8360" y="1392428"/>
            <a:ext cx="1828800" cy="4064000"/>
          </a:xfrm>
          <a:prstGeom prst="rect">
            <a:avLst/>
          </a:prstGeom>
          <a:ln>
            <a:solidFill>
              <a:srgbClr val="E2E8F0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1060704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66373"/>
                </a:solidFill>
                <a:latin typeface="Microsoft YaHei"/>
              </a:defRPr>
            </a:pPr>
            <a: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202B"/>
                </a:solidFill>
                <a:latin typeface="Microsoft YaHei"/>
              </a:defRPr>
            </a:pPr>
            <a:r>
              <a:t>历史记录能力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77824"/>
            <a:ext cx="9326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6373"/>
                </a:solidFill>
                <a:latin typeface="Microsoft YaHei"/>
              </a:defRPr>
            </a:pPr>
            <a:r>
              <a:t>保存分析结果，让 App 更接近完整产品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828800" cy="45720"/>
          </a:xfrm>
          <a:prstGeom prst="rect">
            <a:avLst/>
          </a:prstGeom>
          <a:solidFill>
            <a:srgbClr val="177C78"/>
          </a:solidFill>
          <a:ln>
            <a:solidFill>
              <a:srgbClr val="177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5202B"/>
                </a:solidFill>
                <a:latin typeface="Microsoft YaHei"/>
              </a:defRPr>
            </a:pPr>
            <a:r>
              <a:t>每次分析后写入本地历史记录。</a:t>
            </a:r>
          </a:p>
          <a:p>
            <a:pPr>
              <a:spcAft>
                <a:spcPts val="800"/>
              </a:spcAft>
              <a:defRPr sz="1600">
                <a:solidFill>
                  <a:srgbClr val="15202B"/>
                </a:solidFill>
                <a:latin typeface="Microsoft YaHei"/>
              </a:defRPr>
            </a:pPr>
            <a:r>
              <a:t>历史记录页支持查看、恢复历史分析和清空记录。</a:t>
            </a:r>
          </a:p>
          <a:p>
            <a:pPr>
              <a:spcAft>
                <a:spcPts val="800"/>
              </a:spcAft>
              <a:defRPr sz="1600">
                <a:solidFill>
                  <a:srgbClr val="15202B"/>
                </a:solidFill>
                <a:latin typeface="Microsoft YaHei"/>
              </a:defRPr>
            </a:pPr>
            <a:r>
              <a:t>从历史记录恢复后仍可继续查看 LiteRT 分析和 Agent 问答。</a:t>
            </a:r>
          </a:p>
        </p:txBody>
      </p:sp>
      <p:pic>
        <p:nvPicPr>
          <p:cNvPr id="6" name="Picture 5" descr="V1.0历史记录页_20260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466" y="1325880"/>
            <a:ext cx="2098548" cy="4663440"/>
          </a:xfrm>
          <a:prstGeom prst="rect">
            <a:avLst/>
          </a:prstGeom>
          <a:ln>
            <a:solidFill>
              <a:srgbClr val="E2E8F0"/>
            </a:solidFill>
          </a:ln>
        </p:spPr>
      </p:pic>
      <p:pic>
        <p:nvPicPr>
          <p:cNvPr id="7" name="Picture 6" descr="V1.0首页_20260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1946" y="1325880"/>
            <a:ext cx="2098548" cy="4663440"/>
          </a:xfrm>
          <a:prstGeom prst="rect">
            <a:avLst/>
          </a:prstGeom>
          <a:ln>
            <a:solidFill>
              <a:srgbClr val="E2E8F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060704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66373"/>
                </a:solidFill>
                <a:latin typeface="Microsoft YaHei"/>
              </a:defRPr>
            </a:pPr>
            <a: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202B"/>
                </a:solidFill>
                <a:latin typeface="Microsoft YaHei"/>
              </a:defRPr>
            </a:pPr>
            <a:r>
              <a:t>项目管理过程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77824"/>
            <a:ext cx="9326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6373"/>
                </a:solidFill>
                <a:latin typeface="Microsoft YaHei"/>
              </a:defRPr>
            </a:pPr>
            <a:r>
              <a:t>版本管理、沟通记录、看板、测试和 Bug 形成证据链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828800" cy="45720"/>
          </a:xfrm>
          <a:prstGeom prst="rect">
            <a:avLst/>
          </a:prstGeom>
          <a:solidFill>
            <a:srgbClr val="177C78"/>
          </a:solidFill>
          <a:ln>
            <a:solidFill>
              <a:srgbClr val="177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5202B"/>
                </a:solidFill>
                <a:latin typeface="Microsoft YaHei"/>
              </a:defRPr>
            </a:pPr>
            <a:r>
              <a:t>Gitee/GitHub 双仓库同步，main/dev/feature 分支推进。</a:t>
            </a:r>
          </a:p>
          <a:p>
            <a:pPr>
              <a:spcAft>
                <a:spcPts val="800"/>
              </a:spcAft>
              <a:defRPr sz="1600">
                <a:solidFill>
                  <a:srgbClr val="15202B"/>
                </a:solidFill>
                <a:latin typeface="Microsoft YaHei"/>
              </a:defRPr>
            </a:pPr>
            <a:r>
              <a:t>v0.1 到 v1.0 标签记录阶段成果。</a:t>
            </a:r>
          </a:p>
          <a:p>
            <a:pPr>
              <a:spcAft>
                <a:spcPts val="800"/>
              </a:spcAft>
              <a:defRPr sz="1600">
                <a:solidFill>
                  <a:srgbClr val="15202B"/>
                </a:solidFill>
                <a:latin typeface="Microsoft YaHei"/>
              </a:defRPr>
            </a:pPr>
            <a:r>
              <a:t>QQ 沟通记录、Leangoo 看板截图、测试用例和 Bug 记录保留过程证据。</a:t>
            </a:r>
          </a:p>
        </p:txBody>
      </p:sp>
      <p:pic>
        <p:nvPicPr>
          <p:cNvPr id="6" name="Picture 5" descr="gitee提交记录_202605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950368"/>
            <a:ext cx="2514600" cy="1414462"/>
          </a:xfrm>
          <a:prstGeom prst="rect">
            <a:avLst/>
          </a:prstGeom>
          <a:ln>
            <a:solidFill>
              <a:srgbClr val="E2E8F0"/>
            </a:solidFill>
          </a:ln>
        </p:spPr>
      </p:pic>
      <p:pic>
        <p:nvPicPr>
          <p:cNvPr id="7" name="Picture 6" descr="项目管理平台_V0.3任务状态更新_20260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950368"/>
            <a:ext cx="2514600" cy="1414462"/>
          </a:xfrm>
          <a:prstGeom prst="rect">
            <a:avLst/>
          </a:prstGeom>
          <a:ln>
            <a:solidFill>
              <a:srgbClr val="E2E8F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060704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66373"/>
                </a:solidFill>
                <a:latin typeface="Microsoft YaHei"/>
              </a:defRPr>
            </a:pPr>
            <a: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202B"/>
                </a:solidFill>
                <a:latin typeface="Microsoft YaHei"/>
              </a:defRPr>
            </a:pPr>
            <a:r>
              <a:t>测试与发布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77824"/>
            <a:ext cx="9326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6373"/>
                </a:solidFill>
                <a:latin typeface="Microsoft YaHei"/>
              </a:defRPr>
            </a:pPr>
            <a:r>
              <a:t>构建、安装、截图和归档材料完成 V1.0 收口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828800" cy="45720"/>
          </a:xfrm>
          <a:prstGeom prst="rect">
            <a:avLst/>
          </a:prstGeom>
          <a:solidFill>
            <a:srgbClr val="177C78"/>
          </a:solidFill>
          <a:ln>
            <a:solidFill>
              <a:srgbClr val="177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5202B"/>
                </a:solidFill>
                <a:latin typeface="Microsoft YaHei"/>
              </a:defRPr>
            </a:pPr>
            <a:r>
              <a:t>Gradle :app:clean :app:assembleDebug 构建通过。</a:t>
            </a:r>
          </a:p>
          <a:p>
            <a:pPr>
              <a:spcAft>
                <a:spcPts val="800"/>
              </a:spcAft>
              <a:defRPr sz="1600">
                <a:solidFill>
                  <a:srgbClr val="15202B"/>
                </a:solidFill>
                <a:latin typeface="Microsoft YaHei"/>
              </a:defRPr>
            </a:pPr>
            <a:r>
              <a:t>V1.0 APK 已生成并安装到模拟器验证。</a:t>
            </a:r>
          </a:p>
          <a:p>
            <a:pPr>
              <a:spcAft>
                <a:spcPts val="800"/>
              </a:spcAft>
              <a:defRPr sz="1600">
                <a:solidFill>
                  <a:srgbClr val="15202B"/>
                </a:solidFill>
                <a:latin typeface="Microsoft YaHei"/>
              </a:defRPr>
            </a:pPr>
            <a:r>
              <a:t>TC-021 到 TC-044 已整理，未真实复测项保留待测。</a:t>
            </a:r>
          </a:p>
          <a:p>
            <a:pPr>
              <a:spcAft>
                <a:spcPts val="800"/>
              </a:spcAft>
              <a:defRPr sz="1600">
                <a:solidFill>
                  <a:srgbClr val="15202B"/>
                </a:solidFill>
                <a:latin typeface="Microsoft YaHei"/>
              </a:defRPr>
            </a:pPr>
            <a:r>
              <a:t>release 分支、main/dev 合并和 v1.0 标签已完成。</a:t>
            </a:r>
          </a:p>
        </p:txBody>
      </p:sp>
      <p:pic>
        <p:nvPicPr>
          <p:cNvPr id="6" name="Picture 5" descr="V1.0清空历史记录_20260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1217" y="1325880"/>
            <a:ext cx="2242566" cy="4983480"/>
          </a:xfrm>
          <a:prstGeom prst="rect">
            <a:avLst/>
          </a:prstGeom>
          <a:ln>
            <a:solidFill>
              <a:srgbClr val="E2E8F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60704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66373"/>
                </a:solidFill>
                <a:latin typeface="Microsoft YaHei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202B"/>
                </a:solidFill>
                <a:latin typeface="Microsoft YaHei"/>
              </a:defRPr>
            </a:pPr>
            <a:r>
              <a:t>不足与后续优化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77824"/>
            <a:ext cx="9326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6373"/>
                </a:solidFill>
                <a:latin typeface="Microsoft YaHei"/>
              </a:defRPr>
            </a:pPr>
            <a:r>
              <a:t>如实说明限制，体现范围控制和项目复盘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828800" cy="45720"/>
          </a:xfrm>
          <a:prstGeom prst="rect">
            <a:avLst/>
          </a:prstGeom>
          <a:solidFill>
            <a:srgbClr val="177C78"/>
          </a:solidFill>
          <a:ln>
            <a:solidFill>
              <a:srgbClr val="177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784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5202B"/>
                </a:solidFill>
                <a:latin typeface="Microsoft YaHei"/>
              </a:defRPr>
            </a:pPr>
            <a:r>
              <a:t>摘要和 Agent 仍为轻量本地方案，复杂长文效果有限。</a:t>
            </a:r>
          </a:p>
          <a:p>
            <a:pPr>
              <a:spcAft>
                <a:spcPts val="800"/>
              </a:spcAft>
              <a:defRPr sz="1900">
                <a:solidFill>
                  <a:srgbClr val="15202B"/>
                </a:solidFill>
                <a:latin typeface="Microsoft YaHei"/>
              </a:defRPr>
            </a:pPr>
            <a:r>
              <a:t>LiteRT 模型训练数据规模较小，准确率仍有提升空间。</a:t>
            </a:r>
          </a:p>
          <a:p>
            <a:pPr>
              <a:spcAft>
                <a:spcPts val="800"/>
              </a:spcAft>
              <a:defRPr sz="1900">
                <a:solidFill>
                  <a:srgbClr val="15202B"/>
                </a:solidFill>
                <a:latin typeface="Microsoft YaHei"/>
              </a:defRPr>
            </a:pPr>
            <a:r>
              <a:t>历史记录使用 SharedPreferences，后续可升级为 Room。</a:t>
            </a:r>
          </a:p>
          <a:p>
            <a:pPr>
              <a:spcAft>
                <a:spcPts val="800"/>
              </a:spcAft>
              <a:defRPr sz="1900">
                <a:solidFill>
                  <a:srgbClr val="15202B"/>
                </a:solidFill>
                <a:latin typeface="Microsoft YaHei"/>
              </a:defRPr>
            </a:pPr>
            <a:r>
              <a:t>后续可在稳定条件下加入可选云端大模型增强。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66373"/>
                </a:solidFill>
                <a:latin typeface="Microsoft YaHei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202B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77824"/>
            <a:ext cx="9326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6373"/>
                </a:solidFill>
                <a:latin typeface="Microsoft YaHei"/>
              </a:defRPr>
            </a:pPr>
            <a:r>
              <a:t>形成可运行、可演示、可复查的双课程最终交付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828800" cy="45720"/>
          </a:xfrm>
          <a:prstGeom prst="rect">
            <a:avLst/>
          </a:prstGeom>
          <a:solidFill>
            <a:srgbClr val="177C78"/>
          </a:solidFill>
          <a:ln>
            <a:solidFill>
              <a:srgbClr val="177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5202B"/>
                </a:solidFill>
                <a:latin typeface="Microsoft YaHei"/>
              </a:defRPr>
            </a:pPr>
            <a:r>
              <a:t>SmartRead Agent V1.0 已形成移动端 AI 阅读辅助闭环。</a:t>
            </a:r>
          </a:p>
          <a:p>
            <a:pPr>
              <a:spcAft>
                <a:spcPts val="800"/>
              </a:spcAft>
              <a:defRPr sz="1600">
                <a:solidFill>
                  <a:srgbClr val="15202B"/>
                </a:solidFill>
                <a:latin typeface="Microsoft YaHei"/>
              </a:defRPr>
            </a:pPr>
            <a:r>
              <a:t>技术成果包括 Android 源码、LiteRT 模型、APK、截图和演示文档。</a:t>
            </a:r>
          </a:p>
          <a:p>
            <a:pPr>
              <a:spcAft>
                <a:spcPts val="800"/>
              </a:spcAft>
              <a:defRPr sz="1600">
                <a:solidFill>
                  <a:srgbClr val="15202B"/>
                </a:solidFill>
                <a:latin typeface="Microsoft YaHei"/>
              </a:defRPr>
            </a:pPr>
            <a:r>
              <a:t>项目管理成果包括版本管理、沟通记录、看板、测试 Bug 和个人报告。</a:t>
            </a:r>
          </a:p>
        </p:txBody>
      </p:sp>
      <p:pic>
        <p:nvPicPr>
          <p:cNvPr id="6" name="Picture 5" descr="V1.0首页_20260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1217" y="1325880"/>
            <a:ext cx="2242566" cy="4983480"/>
          </a:xfrm>
          <a:prstGeom prst="rect">
            <a:avLst/>
          </a:prstGeom>
          <a:ln>
            <a:solidFill>
              <a:srgbClr val="E2E8F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60704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66373"/>
                </a:solidFill>
                <a:latin typeface="Microsoft YaHei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
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Rounded Rectangle 9"/>
          <p:cNvSpPr/>
          <p:nvPr/>
        </p:nvSpPr>
        <p:spPr>
          <a:xfrm>
            <a:off x="7498079" y="475488"/>
            <a:ext cx="2743200" cy="5961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164592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1E40AF"/>
                </a:solidFill>
                <a:latin typeface="Microsoft YaHei"/>
              </a:rPr>
              <a:t>课程项目汇报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6035040" cy="6583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Microsoft YaHei"/>
              </a:rPr>
              <a:t>SmartRead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755648"/>
            <a:ext cx="630936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Microsoft YaHei"/>
              </a:rPr>
              <a:t>面向学习文本的移动端智能阅读助手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6035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A03 组｜林立洲 121072021030｜江轩宇 121052023075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34640"/>
            <a:ext cx="6035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Android / Kotlin / Jetpack Compose / LiteRT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0"/>
            <a:ext cx="6035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福建师范大学 2023 级软件工程 2 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315968"/>
            <a:ext cx="5394960" cy="10058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300">
                <a:solidFill>
                  <a:srgbClr val="1E40AF"/>
                </a:solidFill>
                <a:latin typeface="Microsoft YaHei"/>
              </a:defRPr>
            </a:pPr>
            <a:r>
              <a:t>项目目标：在 Android 端完成文本阅读分析、端侧句子重要性评分、问答复习和历史回看。</a:t>
            </a:r>
          </a:p>
          <a:p>
            <a:pPr>
              <a:spcAft>
                <a:spcPts val="700"/>
              </a:spcAft>
              <a:defRPr sz="1300">
                <a:solidFill>
                  <a:srgbClr val="1E40AF"/>
                </a:solidFill>
                <a:latin typeface="Microsoft YaHei"/>
              </a:defRPr>
            </a:pPr>
            <a:r>
              <a:t>汇报重点：应用价值、功能完整度、LiteRT 集成、工程实现和团队协作。</a:t>
            </a:r>
          </a:p>
        </p:txBody>
      </p:sp>
      <p:pic>
        <p:nvPicPr>
          <p:cNvPr id="9" name="Picture 8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943" y="530352"/>
            <a:ext cx="2633472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Rounded Rectangle 19"/>
          <p:cNvSpPr/>
          <p:nvPr/>
        </p:nvSpPr>
        <p:spPr>
          <a:xfrm>
            <a:off x="7863840" y="1819655"/>
            <a:ext cx="1920240" cy="41330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选题背景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学生阅读资料时，最耗时间的不是打开文章，而是整理重点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20240"/>
            <a:ext cx="2514600" cy="13716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103120"/>
            <a:ext cx="210312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阅读材料长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542032"/>
            <a:ext cx="2103120" cy="53035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Microsoft YaHei"/>
              </a:rPr>
              <a:t>教材片段、课堂资料和技术文章信息密度高，第一次阅读很难快速抓住主线。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920240"/>
            <a:ext cx="2514600" cy="13716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8" y="2103120"/>
            <a:ext cx="210312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整理过程散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2542032"/>
            <a:ext cx="2103120" cy="53035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Microsoft YaHei"/>
              </a:rPr>
              <a:t>摘要、关键词、复习点通常分散在笔记里，回看时需要重新梳理。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920240"/>
            <a:ext cx="2514600" cy="13716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2103120"/>
            <a:ext cx="210312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移动端高频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542032"/>
            <a:ext cx="2103120" cy="53035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Microsoft YaHei"/>
              </a:rPr>
              <a:t>手机是学生最容易随手使用的设备，适合承载轻量阅读辅助流程。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749039"/>
            <a:ext cx="5440680" cy="1170432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400">
                <a:solidFill>
                  <a:srgbClr val="047857"/>
                </a:solidFill>
                <a:latin typeface="Microsoft YaHei"/>
              </a:defRPr>
            </a:pPr>
            <a:r>
              <a:t>设计取向：不做泛泛的聊天工具，而是聚焦“课程资料阅读”这一高频小场景。</a:t>
            </a:r>
          </a:p>
          <a:p>
            <a:pPr>
              <a:spcAft>
                <a:spcPts val="700"/>
              </a:spcAft>
              <a:defRPr sz="1400">
                <a:solidFill>
                  <a:srgbClr val="047857"/>
                </a:solidFill>
                <a:latin typeface="Microsoft YaHei"/>
              </a:defRPr>
            </a:pPr>
            <a:r>
              <a:t>V1.0 的价值在于把阅读、理解和复习整理放进一个移动端闭环。</a:t>
            </a:r>
          </a:p>
        </p:txBody>
      </p:sp>
      <p:pic>
        <p:nvPicPr>
          <p:cNvPr id="19" name="Picture 18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1874519"/>
            <a:ext cx="18105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Rounded Rectangle 28"/>
          <p:cNvSpPr/>
          <p:nvPr/>
        </p:nvSpPr>
        <p:spPr>
          <a:xfrm>
            <a:off x="5710428" y="3739896"/>
            <a:ext cx="1014984" cy="21214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项目定位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把“读文章、抓重点、问问题、做复习”串成一个闭环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20240"/>
            <a:ext cx="2331720" cy="141732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84831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057400"/>
            <a:ext cx="1463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Microsoft YaHei"/>
              </a:rPr>
              <a:t>输入文本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96896"/>
            <a:ext cx="1920240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Microsoft YaHei"/>
              </a:rPr>
              <a:t>手动粘贴或选择示例文本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3512" y="2468880"/>
            <a:ext cx="256032" cy="21945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64748B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64408" y="1920240"/>
            <a:ext cx="2331720" cy="141732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2084831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6" y="2057400"/>
            <a:ext cx="1463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Microsoft YaHei"/>
              </a:rPr>
              <a:t>智能分析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596896"/>
            <a:ext cx="1920240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Microsoft YaHei"/>
              </a:rPr>
              <a:t>摘要、关键词、分点摘要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2468880"/>
            <a:ext cx="256032" cy="21945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64748B"/>
                </a:solidFill>
                <a:latin typeface="Microsoft YaHe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43016" y="1920240"/>
            <a:ext cx="2331720" cy="141732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25896" y="2084831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2824" y="2057400"/>
            <a:ext cx="1463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Microsoft YaHei"/>
              </a:rPr>
              <a:t>端侧评分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1616" y="2596896"/>
            <a:ext cx="1920240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Microsoft YaHei"/>
              </a:rPr>
              <a:t>LiteRT 输出句子重要性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8" y="2468880"/>
            <a:ext cx="256032" cy="21945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64748B"/>
                </a:solidFill>
                <a:latin typeface="Microsoft YaHe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1624" y="1920240"/>
            <a:ext cx="2331720" cy="141732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04504" y="2084831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057400"/>
            <a:ext cx="1463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Microsoft YaHei"/>
              </a:rPr>
              <a:t>复习回看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0224" y="2596896"/>
            <a:ext cx="1920240" cy="3840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Microsoft YaHei"/>
              </a:rPr>
              <a:t>Agent、卡片、复习题、历史记录</a:t>
            </a:r>
          </a:p>
        </p:txBody>
      </p:sp>
      <p:pic>
        <p:nvPicPr>
          <p:cNvPr id="28" name="Picture 27" descr="V1.0摘要结果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3794760"/>
            <a:ext cx="905256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/>
        </p:nvSpPr>
        <p:spPr>
          <a:xfrm>
            <a:off x="8947404" y="1773936"/>
            <a:ext cx="2084831" cy="44988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V1.0 功能总览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功能不是孤立堆叠，而是围绕阅读学习流程组织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20240"/>
            <a:ext cx="2395728" cy="12435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084832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468880"/>
            <a:ext cx="1920240" cy="43891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Microsoft YaHei"/>
              </a:rPr>
              <a:t>文本输入、示例文本、字符统计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920240"/>
            <a:ext cx="2395728" cy="12435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084832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理解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468880"/>
            <a:ext cx="1920240" cy="43891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Microsoft YaHei"/>
              </a:rPr>
              <a:t>一句话总结、关键词、分点摘要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20240"/>
            <a:ext cx="2395728" cy="12435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2084832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端侧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468880"/>
            <a:ext cx="1920240" cy="43891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Microsoft YaHei"/>
              </a:rPr>
              <a:t>LiteRT 句子重要性分析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886200"/>
            <a:ext cx="2395728" cy="12435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050791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问答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434840"/>
            <a:ext cx="1920240" cy="43891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Microsoft YaHei"/>
              </a:rPr>
              <a:t>本地规则型阅读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3886200"/>
            <a:ext cx="2395728" cy="12435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30168" y="4050791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复习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4434840"/>
            <a:ext cx="1920240" cy="43891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Microsoft YaHei"/>
              </a:rPr>
              <a:t>知识卡片、复习题、参考答案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86200"/>
            <a:ext cx="2395728" cy="12435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4050791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回看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4434840"/>
            <a:ext cx="1920240" cy="43891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50" b="0">
                <a:solidFill>
                  <a:srgbClr val="1E293B"/>
                </a:solidFill>
                <a:latin typeface="Microsoft YaHei"/>
              </a:rPr>
              <a:t>历史记录保存、恢复、清空</a:t>
            </a:r>
          </a:p>
        </p:txBody>
      </p:sp>
      <p:pic>
        <p:nvPicPr>
          <p:cNvPr id="27" name="Picture 26" descr="V1.0操作入口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2268" y="1828800"/>
            <a:ext cx="1975103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核心界面展示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从首页到学习材料，主要页面已经形成完整操作路径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19"/>
            <a:ext cx="2176272" cy="4160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303" y="2039112"/>
            <a:ext cx="1530705" cy="3401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2688" y="5577840"/>
            <a:ext cx="178308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首页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39312" y="1874519"/>
            <a:ext cx="2176272" cy="4160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1.0摘要结果_20260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095" y="2039112"/>
            <a:ext cx="1530705" cy="3401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40480" y="5577840"/>
            <a:ext cx="178308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摘要结果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47104" y="1874519"/>
            <a:ext cx="2176272" cy="4160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V1.0LiteRT端侧分析_202605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9887" y="2039112"/>
            <a:ext cx="1530705" cy="34015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48272" y="5577840"/>
            <a:ext cx="178308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LiteRT 分析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6" y="1874519"/>
            <a:ext cx="2176272" cy="4160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V1.0Agent问答_202605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7679" y="2039112"/>
            <a:ext cx="1530705" cy="34015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56064" y="5577840"/>
            <a:ext cx="178308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Agent 问答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ounded Rectangle 25"/>
          <p:cNvSpPr/>
          <p:nvPr/>
        </p:nvSpPr>
        <p:spPr>
          <a:xfrm>
            <a:off x="5934456" y="2154022"/>
            <a:ext cx="5504688" cy="34186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Android 本地分析为主，模型文件随 APK 集成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11679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UI 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2011679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Jetpack Compose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79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首页、结果页、Agent、知识卡片、历史记录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70631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907791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分析层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2907791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TextAnalyzer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07791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摘要、关键词、分点摘要、句子切分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666743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803903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智能层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3803903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LocalReadingAgent + LiteRT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803903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问答意图识别、端侧句子重要性评分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562855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700015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存储层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4700015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HistoryRepository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700015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SharedPreferences 保存最近 12 条分析记录</a:t>
            </a:r>
          </a:p>
        </p:txBody>
      </p:sp>
      <p:pic>
        <p:nvPicPr>
          <p:cNvPr id="25" name="Picture 24" descr="SmartReadAgent_模块关系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08886"/>
            <a:ext cx="5394960" cy="33089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ounded Rectangle 22"/>
          <p:cNvSpPr/>
          <p:nvPr/>
        </p:nvSpPr>
        <p:spPr>
          <a:xfrm>
            <a:off x="5450967" y="3648456"/>
            <a:ext cx="1076705" cy="22585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端侧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LiteRT 端侧句子重要性分析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移动机器学习部分落实到模型文件、端侧推理和界面展示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11680"/>
            <a:ext cx="2240280" cy="109728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176272"/>
            <a:ext cx="182880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文本句子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78608"/>
            <a:ext cx="17830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50" b="0">
                <a:solidFill>
                  <a:srgbClr val="1E293B"/>
                </a:solidFill>
                <a:latin typeface="Microsoft YaHei"/>
              </a:rPr>
              <a:t>切分文章前若干句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011680"/>
            <a:ext cx="2240280" cy="109728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176272"/>
            <a:ext cx="182880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5 维特征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578608"/>
            <a:ext cx="17830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50" b="0">
                <a:solidFill>
                  <a:srgbClr val="1E293B"/>
                </a:solidFill>
                <a:latin typeface="Microsoft YaHei"/>
              </a:rPr>
              <a:t>长度、关键词、位置、标点、提示词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87568" y="2011680"/>
            <a:ext cx="2240280" cy="109728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2176272"/>
            <a:ext cx="182880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.tflite 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2578608"/>
            <a:ext cx="17830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50" b="0">
                <a:solidFill>
                  <a:srgbClr val="1E293B"/>
                </a:solidFill>
                <a:latin typeface="Microsoft YaHei"/>
              </a:rPr>
              <a:t>assets 集成并本地推理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74736" y="2011680"/>
            <a:ext cx="2240280" cy="109728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176272"/>
            <a:ext cx="182880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重要性等级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578608"/>
            <a:ext cx="17830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50" b="0">
                <a:solidFill>
                  <a:srgbClr val="1E293B"/>
                </a:solidFill>
                <a:latin typeface="Microsoft YaHei"/>
              </a:rPr>
              <a:t>分数转为高/中/低展示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246120"/>
            <a:ext cx="832104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icrosoft YaHei"/>
              </a:rPr>
              <a:t>Text → Feature Vector → LiteRT Interpreter → Score / Level</a:t>
            </a:r>
          </a:p>
        </p:txBody>
      </p:sp>
      <p:pic>
        <p:nvPicPr>
          <p:cNvPr id="22" name="Picture 21" descr="V1.0LiteRT端侧分析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5831" y="3703320"/>
            <a:ext cx="966977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Rounded Rectangle 18"/>
          <p:cNvSpPr/>
          <p:nvPr/>
        </p:nvSpPr>
        <p:spPr>
          <a:xfrm>
            <a:off x="5567553" y="3602736"/>
            <a:ext cx="1117854" cy="23500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Agent 问答设计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围绕当前文章分析结果回答，强调稳定、可解释、可复现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278892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103120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47857"/>
                </a:solidFill>
                <a:latin typeface="Microsoft YaHei"/>
              </a:rPr>
              <a:t>输入来源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2331720" cy="43891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当前文章摘要、关键词、分点摘要、复习题和知识卡片。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0" y="1920240"/>
            <a:ext cx="278892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2103120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47857"/>
                </a:solidFill>
                <a:latin typeface="Microsoft YaHei"/>
              </a:rPr>
              <a:t>意图识别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542032"/>
            <a:ext cx="2331720" cy="43891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区分概括、关键词、复习重点、复习题、卡片提示等问题类型。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1920240"/>
            <a:ext cx="278892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2103120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47857"/>
                </a:solidFill>
                <a:latin typeface="Microsoft YaHei"/>
              </a:rPr>
              <a:t>回答方式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542032"/>
            <a:ext cx="2331720" cy="43891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使用本地规则组织答案，不依赖外部大模型接口。</a:t>
            </a:r>
          </a:p>
        </p:txBody>
      </p:sp>
      <p:pic>
        <p:nvPicPr>
          <p:cNvPr id="18" name="Picture 17" descr="V1.0Agent快捷问题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417" y="3657600"/>
            <a:ext cx="1008126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学习材料生成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把阅读结果转化为可复习的卡片和题目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19"/>
            <a:ext cx="2176272" cy="4160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1.0知识卡片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303" y="2039112"/>
            <a:ext cx="1530705" cy="3401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2688" y="5577840"/>
            <a:ext cx="178308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知识卡片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39312" y="1874519"/>
            <a:ext cx="2176272" cy="4160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1.0复习题_20260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095" y="2039112"/>
            <a:ext cx="1530705" cy="3401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40480" y="5577840"/>
            <a:ext cx="178308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复习题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47104" y="1874519"/>
            <a:ext cx="2176272" cy="4160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V1.0Agent手动提问_202605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9887" y="2039112"/>
            <a:ext cx="1530705" cy="34015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48272" y="5577840"/>
            <a:ext cx="178308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手动提问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6" y="1874519"/>
            <a:ext cx="2176272" cy="4160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V1.0首页_202605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7679" y="2039112"/>
            <a:ext cx="1530705" cy="34015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56064" y="5577840"/>
            <a:ext cx="178308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历史恢复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ounded Rectangle 25"/>
          <p:cNvSpPr/>
          <p:nvPr/>
        </p:nvSpPr>
        <p:spPr>
          <a:xfrm>
            <a:off x="5934456" y="2154022"/>
            <a:ext cx="5504688" cy="34186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数据对象与本地存储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分析结果、问答消息、学习材料和历史记录都有明确结构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11679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ArticleAnalysis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2011679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主分析结果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79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原文、摘要、关键词、分点摘要、句子重要性列表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70631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907791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ChatMessage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2907791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问答消息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07791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角色、内容、时间戳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666743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803903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KnowledgeCard / QuizQuestion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3803903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复习材料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803903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卡片标题、内容、题目、参考答案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562855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700015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HistoryRecord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4700015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历史记录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700015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标题、预览、保存时间、原文和摘要信息</a:t>
            </a:r>
          </a:p>
        </p:txBody>
      </p:sp>
      <p:pic>
        <p:nvPicPr>
          <p:cNvPr id="25" name="Picture 24" descr="SmartReadAgent_对象模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08886"/>
            <a:ext cx="5394960" cy="33089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Rounded Rectangle 21"/>
          <p:cNvSpPr/>
          <p:nvPr/>
        </p:nvSpPr>
        <p:spPr>
          <a:xfrm>
            <a:off x="7683246" y="1801367"/>
            <a:ext cx="1961388" cy="4224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工程实现与版本收口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从代码、模型、APK 到文档材料形成可复查交付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512064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029967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Android 工程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5728" y="2029967"/>
            <a:ext cx="29260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Kotlin + Compose，入口为 MainActivity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61487"/>
            <a:ext cx="512064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916935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模型文件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2916935"/>
            <a:ext cx="29260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sentence_importance_model.tflite 集成到 assets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648455"/>
            <a:ext cx="512064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803903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APK 产物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3803903"/>
            <a:ext cx="29260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SmartReadAgent-v1.0-debug.apk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35423"/>
            <a:ext cx="512064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690871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文档材料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95728" y="4690871"/>
            <a:ext cx="29260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README、项目说明、详细设计说明书、演示脚本</a:t>
            </a:r>
          </a:p>
        </p:txBody>
      </p:sp>
      <p:pic>
        <p:nvPicPr>
          <p:cNvPr id="21" name="Picture 20" descr="V1.0历史记录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1856231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迭代过程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从 MVP 到 V1.0，每个阶段都保留可运行成果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0120" y="3063240"/>
            <a:ext cx="10104120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立项与仓库初始化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78608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88336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8336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文本输入与摘要 MVP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Agent、知识卡片、复习题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LiteRT 端侧模型集成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2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历史记录与体验完善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60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6688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6688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APK、测试、文档与汇报材料收口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280" y="4709160"/>
            <a:ext cx="9966960" cy="86868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500">
                <a:solidFill>
                  <a:srgbClr val="047857"/>
                </a:solidFill>
                <a:latin typeface="Microsoft YaHei"/>
              </a:defRPr>
            </a:pPr>
            <a:r>
              <a:t>迭代策略：每个阶段先保证可运行，再补充测试截图、版本记录和提交材料。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小组分工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双人协作完成开发、测试、演示和材料整理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48920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40280"/>
            <a:ext cx="429768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林立洲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16352"/>
            <a:ext cx="4251960" cy="7772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Microsoft YaHei"/>
              </a:rPr>
              <a:t>项目方案、Android 核心开发、本地摘要、Agent、LiteRT 集成、版本管理、文档与汇报材料。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965960"/>
            <a:ext cx="48920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240280"/>
            <a:ext cx="429768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江轩宇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816352"/>
            <a:ext cx="4251960" cy="7772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Microsoft YaHei"/>
              </a:rPr>
              <a:t>需求反馈、安卓真机体验、功能流程验证、UI 使用建议、文档校对和手机端操作配合。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4709160"/>
            <a:ext cx="8183879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500">
                <a:solidFill>
                  <a:srgbClr val="1E40AF"/>
                </a:solidFill>
                <a:latin typeface="Microsoft YaHei"/>
              </a:defRPr>
            </a:pPr>
            <a:r>
              <a:t>协作方式：开发、真机体验、文档校对和演示操作分开推进，最终统一到 V1.0 交付材料。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Rounded Rectangle 18"/>
          <p:cNvSpPr/>
          <p:nvPr/>
        </p:nvSpPr>
        <p:spPr>
          <a:xfrm>
            <a:off x="7766685" y="1773936"/>
            <a:ext cx="2023110" cy="4361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测试与运行结果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以主要流程可安装、可运行、可复现作为 V1.0 验收标准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53949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57399"/>
            <a:ext cx="128016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047857"/>
                </a:solidFill>
                <a:latin typeface="Microsoft YaHei"/>
              </a:rPr>
              <a:t>功能覆盖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2057399"/>
            <a:ext cx="352044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摘要、关键词、分点摘要、LiteRT、Agent、知识卡片、复习题、历史记录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990087"/>
            <a:ext cx="53949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72967"/>
            <a:ext cx="128016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047857"/>
                </a:solidFill>
                <a:latin typeface="Microsoft YaHei"/>
              </a:rPr>
              <a:t>运行验证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2848" y="3172967"/>
            <a:ext cx="352044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模拟器回归验证，安卓真机完成体验反馈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4105655"/>
            <a:ext cx="53949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88535"/>
            <a:ext cx="128016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047857"/>
                </a:solidFill>
                <a:latin typeface="Microsoft YaHei"/>
              </a:rPr>
              <a:t>交付状态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4288535"/>
            <a:ext cx="352044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源码、模型、APK、截图、设计说明书和汇报材料已归档</a:t>
            </a:r>
          </a:p>
        </p:txBody>
      </p:sp>
      <p:pic>
        <p:nvPicPr>
          <p:cNvPr id="18" name="Picture 17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1549" y="1828800"/>
            <a:ext cx="1913382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总结与后续优化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已完成课程项目闭环，同时保留可继续扩展的方向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20240"/>
            <a:ext cx="5257800" cy="283464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94560"/>
            <a:ext cx="429768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000" b="1">
                <a:solidFill>
                  <a:srgbClr val="047857"/>
                </a:solidFill>
                <a:latin typeface="Microsoft YaHei"/>
              </a:rPr>
              <a:t>已经完成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97480"/>
            <a:ext cx="4434840" cy="15087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700"/>
              </a:spcAft>
              <a:defRPr sz="1400">
                <a:solidFill>
                  <a:srgbClr val="1E293B"/>
                </a:solidFill>
                <a:latin typeface="Microsoft YaHei"/>
              </a:defRPr>
            </a:pPr>
            <a:r>
              <a:t>• 完成 Android 端可运行 App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Microsoft YaHei"/>
              </a:defRPr>
            </a:pPr>
            <a:r>
              <a:t>• 形成阅读分析、端侧 AI、问答复习、历史回看的闭环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Microsoft YaHei"/>
              </a:defRPr>
            </a:pPr>
            <a:r>
              <a:t>• 完成 LiteRT 模型集成、APK 构建和材料归档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920240"/>
            <a:ext cx="4800600" cy="28346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393192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000" b="1">
                <a:solidFill>
                  <a:srgbClr val="D97706"/>
                </a:solidFill>
                <a:latin typeface="Microsoft YaHei"/>
              </a:rPr>
              <a:t>后续方向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697480"/>
            <a:ext cx="3977639" cy="15087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700"/>
              </a:spcAft>
              <a:defRPr sz="1400">
                <a:solidFill>
                  <a:srgbClr val="1E293B"/>
                </a:solidFill>
                <a:latin typeface="Microsoft YaHei"/>
              </a:defRPr>
            </a:pPr>
            <a:r>
              <a:t>• 扩大训练数据并改进句子重要性模型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Microsoft YaHei"/>
              </a:defRPr>
            </a:pPr>
            <a:r>
              <a:t>• 历史记录迁移到 Room 数据库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Microsoft YaHei"/>
              </a:defRPr>
            </a:pPr>
            <a:r>
              <a:t>• 增加 OCR 导入和可选云端增强能力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349240"/>
            <a:ext cx="8595360" cy="4572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Microsoft YaHei"/>
              </a:rPr>
              <a:t>SmartRead Agent V1.0 已形成可运行、可演示、可复查的课程项目交付。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